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199C474C-B821-41A6-A775-53BB0D2E6AD2}" type="datetimeFigureOut">
              <a:rPr lang="en-IN" smtClean="0"/>
              <a:t>19-05-2023</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C363C48A-6D92-48D6-A38A-476832BF4199}" type="slidenum">
              <a:rPr lang="en-IN" smtClean="0"/>
              <a:t>‹#›</a:t>
            </a:fld>
            <a:endParaRPr lang="en-IN"/>
          </a:p>
        </p:txBody>
      </p:sp>
    </p:spTree>
    <p:extLst>
      <p:ext uri="{BB962C8B-B14F-4D97-AF65-F5344CB8AC3E}">
        <p14:creationId xmlns:p14="http://schemas.microsoft.com/office/powerpoint/2010/main" val="2230260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9C474C-B821-41A6-A775-53BB0D2E6AD2}" type="datetimeFigureOut">
              <a:rPr lang="en-IN" smtClean="0"/>
              <a:t>19-05-2023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63C48A-6D92-48D6-A38A-476832BF4199}" type="slidenum">
              <a:rPr lang="en-IN" smtClean="0"/>
              <a:t>‹#›</a:t>
            </a:fld>
            <a:endParaRPr lang="en-IN"/>
          </a:p>
        </p:txBody>
      </p:sp>
    </p:spTree>
    <p:extLst>
      <p:ext uri="{BB962C8B-B14F-4D97-AF65-F5344CB8AC3E}">
        <p14:creationId xmlns:p14="http://schemas.microsoft.com/office/powerpoint/2010/main" val="3464703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9C474C-B821-41A6-A775-53BB0D2E6AD2}" type="datetimeFigureOut">
              <a:rPr lang="en-IN" smtClean="0"/>
              <a:t>19-05-2023</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363C48A-6D92-48D6-A38A-476832BF4199}" type="slidenum">
              <a:rPr lang="en-IN" smtClean="0"/>
              <a:t>‹#›</a:t>
            </a:fld>
            <a:endParaRPr lang="en-IN"/>
          </a:p>
        </p:txBody>
      </p:sp>
    </p:spTree>
    <p:extLst>
      <p:ext uri="{BB962C8B-B14F-4D97-AF65-F5344CB8AC3E}">
        <p14:creationId xmlns:p14="http://schemas.microsoft.com/office/powerpoint/2010/main" val="1202721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9C474C-B821-41A6-A775-53BB0D2E6AD2}" type="datetimeFigureOut">
              <a:rPr lang="en-IN" smtClean="0"/>
              <a:t>19-05-2023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63C48A-6D92-48D6-A38A-476832BF4199}" type="slidenum">
              <a:rPr lang="en-IN" smtClean="0"/>
              <a:t>‹#›</a:t>
            </a:fld>
            <a:endParaRPr lang="en-IN"/>
          </a:p>
        </p:txBody>
      </p:sp>
    </p:spTree>
    <p:extLst>
      <p:ext uri="{BB962C8B-B14F-4D97-AF65-F5344CB8AC3E}">
        <p14:creationId xmlns:p14="http://schemas.microsoft.com/office/powerpoint/2010/main" val="3083893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9C474C-B821-41A6-A775-53BB0D2E6AD2}" type="datetimeFigureOut">
              <a:rPr lang="en-IN" smtClean="0"/>
              <a:t>19-05-2023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363C48A-6D92-48D6-A38A-476832BF4199}" type="slidenum">
              <a:rPr lang="en-IN" smtClean="0"/>
              <a:t>‹#›</a:t>
            </a:fld>
            <a:endParaRPr lang="en-IN"/>
          </a:p>
        </p:txBody>
      </p:sp>
    </p:spTree>
    <p:extLst>
      <p:ext uri="{BB962C8B-B14F-4D97-AF65-F5344CB8AC3E}">
        <p14:creationId xmlns:p14="http://schemas.microsoft.com/office/powerpoint/2010/main" val="3996060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9C474C-B821-41A6-A775-53BB0D2E6AD2}" type="datetimeFigureOut">
              <a:rPr lang="en-IN" smtClean="0"/>
              <a:t>19-05-2023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363C48A-6D92-48D6-A38A-476832BF4199}" type="slidenum">
              <a:rPr lang="en-IN" smtClean="0"/>
              <a:t>‹#›</a:t>
            </a:fld>
            <a:endParaRPr lang="en-IN"/>
          </a:p>
        </p:txBody>
      </p:sp>
    </p:spTree>
    <p:extLst>
      <p:ext uri="{BB962C8B-B14F-4D97-AF65-F5344CB8AC3E}">
        <p14:creationId xmlns:p14="http://schemas.microsoft.com/office/powerpoint/2010/main" val="558462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9C474C-B821-41A6-A775-53BB0D2E6AD2}" type="datetimeFigureOut">
              <a:rPr lang="en-IN" smtClean="0"/>
              <a:t>19-05-2023</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C363C48A-6D92-48D6-A38A-476832BF4199}" type="slidenum">
              <a:rPr lang="en-IN" smtClean="0"/>
              <a:t>‹#›</a:t>
            </a:fld>
            <a:endParaRPr lang="en-IN"/>
          </a:p>
        </p:txBody>
      </p:sp>
    </p:spTree>
    <p:extLst>
      <p:ext uri="{BB962C8B-B14F-4D97-AF65-F5344CB8AC3E}">
        <p14:creationId xmlns:p14="http://schemas.microsoft.com/office/powerpoint/2010/main" val="506162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9C474C-B821-41A6-A775-53BB0D2E6AD2}" type="datetimeFigureOut">
              <a:rPr lang="en-IN" smtClean="0"/>
              <a:t>19-05-2023</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363C48A-6D92-48D6-A38A-476832BF4199}" type="slidenum">
              <a:rPr lang="en-IN" smtClean="0"/>
              <a:t>‹#›</a:t>
            </a:fld>
            <a:endParaRPr lang="en-IN"/>
          </a:p>
        </p:txBody>
      </p:sp>
    </p:spTree>
    <p:extLst>
      <p:ext uri="{BB962C8B-B14F-4D97-AF65-F5344CB8AC3E}">
        <p14:creationId xmlns:p14="http://schemas.microsoft.com/office/powerpoint/2010/main" val="865572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9C474C-B821-41A6-A775-53BB0D2E6AD2}" type="datetimeFigureOut">
              <a:rPr lang="en-IN" smtClean="0"/>
              <a:t>19-05-2023</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363C48A-6D92-48D6-A38A-476832BF4199}" type="slidenum">
              <a:rPr lang="en-IN" smtClean="0"/>
              <a:t>‹#›</a:t>
            </a:fld>
            <a:endParaRPr lang="en-IN"/>
          </a:p>
        </p:txBody>
      </p:sp>
    </p:spTree>
    <p:extLst>
      <p:ext uri="{BB962C8B-B14F-4D97-AF65-F5344CB8AC3E}">
        <p14:creationId xmlns:p14="http://schemas.microsoft.com/office/powerpoint/2010/main" val="15910774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9C474C-B821-41A6-A775-53BB0D2E6AD2}" type="datetimeFigureOut">
              <a:rPr lang="en-IN" smtClean="0"/>
              <a:t>19-05-2023</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363C48A-6D92-48D6-A38A-476832BF4199}" type="slidenum">
              <a:rPr lang="en-IN" smtClean="0"/>
              <a:t>‹#›</a:t>
            </a:fld>
            <a:endParaRPr lang="en-IN"/>
          </a:p>
        </p:txBody>
      </p:sp>
    </p:spTree>
    <p:extLst>
      <p:ext uri="{BB962C8B-B14F-4D97-AF65-F5344CB8AC3E}">
        <p14:creationId xmlns:p14="http://schemas.microsoft.com/office/powerpoint/2010/main" val="2613748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99C474C-B821-41A6-A775-53BB0D2E6AD2}" type="datetimeFigureOut">
              <a:rPr lang="en-IN" smtClean="0"/>
              <a:t>19-05-2023</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363C48A-6D92-48D6-A38A-476832BF4199}" type="slidenum">
              <a:rPr lang="en-IN" smtClean="0"/>
              <a:t>‹#›</a:t>
            </a:fld>
            <a:endParaRPr lang="en-IN"/>
          </a:p>
        </p:txBody>
      </p:sp>
    </p:spTree>
    <p:extLst>
      <p:ext uri="{BB962C8B-B14F-4D97-AF65-F5344CB8AC3E}">
        <p14:creationId xmlns:p14="http://schemas.microsoft.com/office/powerpoint/2010/main" val="17132303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99C474C-B821-41A6-A775-53BB0D2E6AD2}" type="datetimeFigureOut">
              <a:rPr lang="en-IN" smtClean="0"/>
              <a:t>19-05-2023</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363C48A-6D92-48D6-A38A-476832BF4199}" type="slidenum">
              <a:rPr lang="en-IN" smtClean="0"/>
              <a:t>‹#›</a:t>
            </a:fld>
            <a:endParaRPr lang="en-IN"/>
          </a:p>
        </p:txBody>
      </p:sp>
    </p:spTree>
    <p:extLst>
      <p:ext uri="{BB962C8B-B14F-4D97-AF65-F5344CB8AC3E}">
        <p14:creationId xmlns:p14="http://schemas.microsoft.com/office/powerpoint/2010/main" val="3051549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9C474C-B821-41A6-A775-53BB0D2E6AD2}" type="datetimeFigureOut">
              <a:rPr lang="en-IN" smtClean="0"/>
              <a:t>19-05-2023</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363C48A-6D92-48D6-A38A-476832BF4199}" type="slidenum">
              <a:rPr lang="en-IN" smtClean="0"/>
              <a:t>‹#›</a:t>
            </a:fld>
            <a:endParaRPr lang="en-IN"/>
          </a:p>
        </p:txBody>
      </p:sp>
    </p:spTree>
    <p:extLst>
      <p:ext uri="{BB962C8B-B14F-4D97-AF65-F5344CB8AC3E}">
        <p14:creationId xmlns:p14="http://schemas.microsoft.com/office/powerpoint/2010/main" val="41593581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99C474C-B821-41A6-A775-53BB0D2E6AD2}" type="datetimeFigureOut">
              <a:rPr lang="en-IN" smtClean="0"/>
              <a:t>19-05-2023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363C48A-6D92-48D6-A38A-476832BF4199}" type="slidenum">
              <a:rPr lang="en-IN" smtClean="0"/>
              <a:t>‹#›</a:t>
            </a:fld>
            <a:endParaRPr lang="en-IN"/>
          </a:p>
        </p:txBody>
      </p:sp>
    </p:spTree>
    <p:extLst>
      <p:ext uri="{BB962C8B-B14F-4D97-AF65-F5344CB8AC3E}">
        <p14:creationId xmlns:p14="http://schemas.microsoft.com/office/powerpoint/2010/main" val="15289493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99C474C-B821-41A6-A775-53BB0D2E6AD2}" type="datetimeFigureOut">
              <a:rPr lang="en-IN" smtClean="0"/>
              <a:t>19-05-2023</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C363C48A-6D92-48D6-A38A-476832BF4199}" type="slidenum">
              <a:rPr lang="en-IN" smtClean="0"/>
              <a:t>‹#›</a:t>
            </a:fld>
            <a:endParaRPr lang="en-IN"/>
          </a:p>
        </p:txBody>
      </p:sp>
    </p:spTree>
    <p:extLst>
      <p:ext uri="{BB962C8B-B14F-4D97-AF65-F5344CB8AC3E}">
        <p14:creationId xmlns:p14="http://schemas.microsoft.com/office/powerpoint/2010/main" val="39932239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99C474C-B821-41A6-A775-53BB0D2E6AD2}" type="datetimeFigureOut">
              <a:rPr lang="en-IN" smtClean="0"/>
              <a:t>19-05-2023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63C48A-6D92-48D6-A38A-476832BF4199}" type="slidenum">
              <a:rPr lang="en-IN" smtClean="0"/>
              <a:t>‹#›</a:t>
            </a:fld>
            <a:endParaRPr lang="en-IN"/>
          </a:p>
        </p:txBody>
      </p:sp>
    </p:spTree>
    <p:extLst>
      <p:ext uri="{BB962C8B-B14F-4D97-AF65-F5344CB8AC3E}">
        <p14:creationId xmlns:p14="http://schemas.microsoft.com/office/powerpoint/2010/main" val="25234216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199C474C-B821-41A6-A775-53BB0D2E6AD2}" type="datetimeFigureOut">
              <a:rPr lang="en-IN" smtClean="0"/>
              <a:t>19-05-2023</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363C48A-6D92-48D6-A38A-476832BF4199}" type="slidenum">
              <a:rPr lang="en-IN" smtClean="0"/>
              <a:t>‹#›</a:t>
            </a:fld>
            <a:endParaRPr lang="en-IN"/>
          </a:p>
        </p:txBody>
      </p:sp>
    </p:spTree>
    <p:extLst>
      <p:ext uri="{BB962C8B-B14F-4D97-AF65-F5344CB8AC3E}">
        <p14:creationId xmlns:p14="http://schemas.microsoft.com/office/powerpoint/2010/main" val="1707987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99C474C-B821-41A6-A775-53BB0D2E6AD2}" type="datetimeFigureOut">
              <a:rPr lang="en-IN" smtClean="0"/>
              <a:t>19-05-2023</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C363C48A-6D92-48D6-A38A-476832BF4199}" type="slidenum">
              <a:rPr lang="en-IN" smtClean="0"/>
              <a:t>‹#›</a:t>
            </a:fld>
            <a:endParaRPr lang="en-IN"/>
          </a:p>
        </p:txBody>
      </p:sp>
    </p:spTree>
    <p:extLst>
      <p:ext uri="{BB962C8B-B14F-4D97-AF65-F5344CB8AC3E}">
        <p14:creationId xmlns:p14="http://schemas.microsoft.com/office/powerpoint/2010/main" val="3038639077"/>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F7D44-AFDD-0123-F4F8-DADDE9589C34}"/>
              </a:ext>
            </a:extLst>
          </p:cNvPr>
          <p:cNvSpPr>
            <a:spLocks noGrp="1"/>
          </p:cNvSpPr>
          <p:nvPr>
            <p:ph type="ctrTitle"/>
          </p:nvPr>
        </p:nvSpPr>
        <p:spPr>
          <a:xfrm>
            <a:off x="1371599" y="881743"/>
            <a:ext cx="9927771" cy="2750458"/>
          </a:xfrm>
        </p:spPr>
        <p:txBody>
          <a:bodyPr>
            <a:normAutofit/>
          </a:bodyPr>
          <a:lstStyle/>
          <a:p>
            <a:pPr algn="ctr"/>
            <a:r>
              <a:rPr lang="en-IN" b="1" dirty="0">
                <a:latin typeface="Times New Roman" panose="02020603050405020304" pitchFamily="18" charset="0"/>
                <a:cs typeface="Times New Roman" panose="02020603050405020304" pitchFamily="18" charset="0"/>
              </a:rPr>
              <a:t>Cost Optimization Solutions For E-Commerce Vendors</a:t>
            </a:r>
          </a:p>
        </p:txBody>
      </p:sp>
      <p:sp>
        <p:nvSpPr>
          <p:cNvPr id="3" name="Subtitle 2">
            <a:extLst>
              <a:ext uri="{FF2B5EF4-FFF2-40B4-BE49-F238E27FC236}">
                <a16:creationId xmlns:a16="http://schemas.microsoft.com/office/drawing/2014/main" id="{EDF92ADC-8D5B-7D91-7F74-6A496B4224F6}"/>
              </a:ext>
            </a:extLst>
          </p:cNvPr>
          <p:cNvSpPr>
            <a:spLocks noGrp="1"/>
          </p:cNvSpPr>
          <p:nvPr>
            <p:ph type="subTitle" idx="1"/>
          </p:nvPr>
        </p:nvSpPr>
        <p:spPr>
          <a:xfrm>
            <a:off x="1371599" y="4310743"/>
            <a:ext cx="9448800" cy="1019630"/>
          </a:xfrm>
        </p:spPr>
        <p:txBody>
          <a:bodyPr>
            <a:noAutofit/>
          </a:bodyPr>
          <a:lstStyle/>
          <a:p>
            <a:pPr algn="ctr"/>
            <a:r>
              <a:rPr lang="en-IN" sz="1600" b="1" dirty="0">
                <a:latin typeface="Times New Roman" panose="02020603050405020304" pitchFamily="18" charset="0"/>
                <a:cs typeface="Times New Roman" panose="02020603050405020304" pitchFamily="18" charset="0"/>
              </a:rPr>
              <a:t>Presented by: Sashwat Desai (60001190047)</a:t>
            </a:r>
          </a:p>
          <a:p>
            <a:pPr algn="ctr"/>
            <a:endParaRPr lang="en-IN" sz="1600" b="1" dirty="0">
              <a:latin typeface="Times New Roman" panose="02020603050405020304" pitchFamily="18" charset="0"/>
              <a:cs typeface="Times New Roman" panose="02020603050405020304" pitchFamily="18" charset="0"/>
            </a:endParaRPr>
          </a:p>
          <a:p>
            <a:pPr algn="ctr"/>
            <a:r>
              <a:rPr lang="en-IN" sz="1600" b="1" dirty="0">
                <a:latin typeface="Times New Roman" panose="02020603050405020304" pitchFamily="18" charset="0"/>
                <a:cs typeface="Times New Roman" panose="02020603050405020304" pitchFamily="18" charset="0"/>
              </a:rPr>
              <a:t>Guided by: </a:t>
            </a:r>
            <a:r>
              <a:rPr lang="en-IN" sz="1600" b="1" dirty="0" err="1">
                <a:latin typeface="Times New Roman" panose="02020603050405020304" pitchFamily="18" charset="0"/>
                <a:cs typeface="Times New Roman" panose="02020603050405020304" pitchFamily="18" charset="0"/>
              </a:rPr>
              <a:t>Dr.</a:t>
            </a:r>
            <a:r>
              <a:rPr lang="en-IN" sz="1600" b="1" dirty="0">
                <a:latin typeface="Times New Roman" panose="02020603050405020304" pitchFamily="18" charset="0"/>
                <a:cs typeface="Times New Roman" panose="02020603050405020304" pitchFamily="18" charset="0"/>
              </a:rPr>
              <a:t> Ramesh </a:t>
            </a:r>
            <a:r>
              <a:rPr lang="en-IN" sz="1600" b="1" dirty="0" err="1">
                <a:latin typeface="Times New Roman" panose="02020603050405020304" pitchFamily="18" charset="0"/>
                <a:cs typeface="Times New Roman" panose="02020603050405020304" pitchFamily="18" charset="0"/>
              </a:rPr>
              <a:t>Vulavala</a:t>
            </a:r>
            <a:r>
              <a:rPr lang="en-IN" sz="1600" b="1" dirty="0">
                <a:latin typeface="Times New Roman" panose="02020603050405020304" pitchFamily="18" charset="0"/>
                <a:cs typeface="Times New Roman" panose="02020603050405020304" pitchFamily="18" charset="0"/>
              </a:rPr>
              <a:t>		Prof. Mayur </a:t>
            </a:r>
            <a:r>
              <a:rPr lang="en-IN" sz="1600" b="1" dirty="0" err="1">
                <a:latin typeface="Times New Roman" panose="02020603050405020304" pitchFamily="18" charset="0"/>
                <a:cs typeface="Times New Roman" panose="02020603050405020304" pitchFamily="18" charset="0"/>
              </a:rPr>
              <a:t>Parulekar</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5274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87751-0B09-32BA-BBFE-7EC72E80981D}"/>
              </a:ext>
            </a:extLst>
          </p:cNvPr>
          <p:cNvSpPr>
            <a:spLocks noGrp="1"/>
          </p:cNvSpPr>
          <p:nvPr>
            <p:ph type="title"/>
          </p:nvPr>
        </p:nvSpPr>
        <p:spPr/>
        <p:txBody>
          <a:bodyPr>
            <a:normAutofit fontScale="90000"/>
          </a:bodyPr>
          <a:lstStyle/>
          <a:p>
            <a:pPr algn="just"/>
            <a:r>
              <a:rPr lang="en-IN" sz="4800" b="1" dirty="0">
                <a:latin typeface="Times New Roman" panose="02020603050405020304" pitchFamily="18" charset="0"/>
                <a:cs typeface="Times New Roman" panose="02020603050405020304" pitchFamily="18" charset="0"/>
              </a:rPr>
              <a:t>Introduction	</a:t>
            </a:r>
          </a:p>
        </p:txBody>
      </p:sp>
      <p:sp>
        <p:nvSpPr>
          <p:cNvPr id="3" name="Content Placeholder 2">
            <a:extLst>
              <a:ext uri="{FF2B5EF4-FFF2-40B4-BE49-F238E27FC236}">
                <a16:creationId xmlns:a16="http://schemas.microsoft.com/office/drawing/2014/main" id="{47E7372B-9F81-3311-1A69-19D8CA558059}"/>
              </a:ext>
            </a:extLst>
          </p:cNvPr>
          <p:cNvSpPr>
            <a:spLocks noGrp="1"/>
          </p:cNvSpPr>
          <p:nvPr>
            <p:ph idx="1"/>
          </p:nvPr>
        </p:nvSpPr>
        <p:spPr/>
        <p:txBody>
          <a:bodyPr>
            <a:normAutofit lnSpcReduction="10000"/>
          </a:bodyPr>
          <a:lstStyle/>
          <a:p>
            <a:pPr algn="just"/>
            <a:r>
              <a:rPr lang="en-IN" dirty="0">
                <a:latin typeface="Times New Roman" panose="02020603050405020304" pitchFamily="18" charset="0"/>
                <a:cs typeface="Times New Roman" panose="02020603050405020304" pitchFamily="18" charset="0"/>
              </a:rPr>
              <a:t>Since the introduction of e-commerce, the retail industry has sky rocketed.</a:t>
            </a:r>
          </a:p>
          <a:p>
            <a:pPr algn="just"/>
            <a:r>
              <a:rPr lang="en-IN" dirty="0">
                <a:latin typeface="Times New Roman" panose="02020603050405020304" pitchFamily="18" charset="0"/>
                <a:cs typeface="Times New Roman" panose="02020603050405020304" pitchFamily="18" charset="0"/>
              </a:rPr>
              <a:t>Although this is advantageous for the customer, the vendor also has to look at his/her own costs.</a:t>
            </a:r>
          </a:p>
          <a:p>
            <a:pPr algn="just"/>
            <a:r>
              <a:rPr lang="en-IN" dirty="0">
                <a:latin typeface="Times New Roman" panose="02020603050405020304" pitchFamily="18" charset="0"/>
                <a:cs typeface="Times New Roman" panose="02020603050405020304" pitchFamily="18" charset="0"/>
              </a:rPr>
              <a:t>To win over the customer, the delivery process must be sped up by using methods such as Same Day Delivery (SDD), all the while ensuring the vendor doesn’t go over-budget.</a:t>
            </a:r>
          </a:p>
          <a:p>
            <a:pPr algn="just"/>
            <a:r>
              <a:rPr lang="en-IN" dirty="0">
                <a:latin typeface="Times New Roman" panose="02020603050405020304" pitchFamily="18" charset="0"/>
                <a:cs typeface="Times New Roman" panose="02020603050405020304" pitchFamily="18" charset="0"/>
              </a:rPr>
              <a:t>An effective way to satisfy the customer as well as balancing the costs is by using customized logistic optimization methods.</a:t>
            </a:r>
          </a:p>
          <a:p>
            <a:pPr algn="just"/>
            <a:r>
              <a:rPr lang="en-IN" dirty="0">
                <a:latin typeface="Times New Roman" panose="02020603050405020304" pitchFamily="18" charset="0"/>
                <a:cs typeface="Times New Roman" panose="02020603050405020304" pitchFamily="18" charset="0"/>
              </a:rPr>
              <a:t>One such method is the popular Differential Evolution Algorithm.</a:t>
            </a:r>
          </a:p>
          <a:p>
            <a:pPr algn="just"/>
            <a:r>
              <a:rPr lang="en-IN" dirty="0">
                <a:latin typeface="Times New Roman" panose="02020603050405020304" pitchFamily="18" charset="0"/>
                <a:cs typeface="Times New Roman" panose="02020603050405020304" pitchFamily="18" charset="0"/>
              </a:rPr>
              <a:t>The commodity chosen for this project is milk, which being a a perishable product, makes time a major constraint.</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32799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9D9AC-C4B5-A2FE-B341-39C7E6445E53}"/>
              </a:ext>
            </a:extLst>
          </p:cNvPr>
          <p:cNvSpPr>
            <a:spLocks noGrp="1"/>
          </p:cNvSpPr>
          <p:nvPr>
            <p:ph type="title"/>
          </p:nvPr>
        </p:nvSpPr>
        <p:spPr/>
        <p:txBody>
          <a:bodyPr>
            <a:normAutofit fontScale="90000"/>
          </a:bodyPr>
          <a:lstStyle/>
          <a:p>
            <a:r>
              <a:rPr lang="en-IN" sz="4800" b="1" dirty="0">
                <a:latin typeface="Times New Roman" panose="02020603050405020304" pitchFamily="18" charset="0"/>
                <a:cs typeface="Times New Roman" panose="02020603050405020304" pitchFamily="18" charset="0"/>
              </a:rPr>
              <a:t>Review Of Literature</a:t>
            </a:r>
          </a:p>
        </p:txBody>
      </p:sp>
      <p:sp>
        <p:nvSpPr>
          <p:cNvPr id="3" name="Content Placeholder 2">
            <a:extLst>
              <a:ext uri="{FF2B5EF4-FFF2-40B4-BE49-F238E27FC236}">
                <a16:creationId xmlns:a16="http://schemas.microsoft.com/office/drawing/2014/main" id="{FFE57771-02D6-777F-01E2-97F84BE6580B}"/>
              </a:ext>
            </a:extLst>
          </p:cNvPr>
          <p:cNvSpPr>
            <a:spLocks noGrp="1"/>
          </p:cNvSpPr>
          <p:nvPr>
            <p:ph idx="1"/>
          </p:nvPr>
        </p:nvSpPr>
        <p:spPr/>
        <p:txBody>
          <a:bodyPr>
            <a:normAutofit fontScale="92500"/>
          </a:bodyPr>
          <a:lstStyle/>
          <a:p>
            <a:pPr marL="0" indent="0" algn="just">
              <a:buNone/>
            </a:pPr>
            <a:r>
              <a:rPr lang="en-IN" b="1" dirty="0">
                <a:latin typeface="Times New Roman" panose="02020603050405020304" pitchFamily="18" charset="0"/>
                <a:cs typeface="Times New Roman" panose="02020603050405020304" pitchFamily="18" charset="0"/>
              </a:rPr>
              <a:t>How Retail can Scale Fast Using Logistics Optimization</a:t>
            </a:r>
          </a:p>
          <a:p>
            <a:pPr algn="just"/>
            <a:r>
              <a:rPr lang="en-IN" dirty="0">
                <a:latin typeface="Times New Roman" panose="02020603050405020304" pitchFamily="18" charset="0"/>
                <a:cs typeface="Times New Roman" panose="02020603050405020304" pitchFamily="18" charset="0"/>
              </a:rPr>
              <a:t>With many vendors opting to sell online, the customers have an even wider range to choose from.</a:t>
            </a:r>
          </a:p>
          <a:p>
            <a:pPr algn="just"/>
            <a:r>
              <a:rPr lang="en-IN" dirty="0">
                <a:latin typeface="Times New Roman" panose="02020603050405020304" pitchFamily="18" charset="0"/>
                <a:cs typeface="Times New Roman" panose="02020603050405020304" pitchFamily="18" charset="0"/>
              </a:rPr>
              <a:t>Winning over customers becomes essential, by speeding up delivery all the while balancing the accounts.</a:t>
            </a:r>
          </a:p>
          <a:p>
            <a:pPr algn="just"/>
            <a:r>
              <a:rPr lang="en-IN" dirty="0">
                <a:latin typeface="Times New Roman" panose="02020603050405020304" pitchFamily="18" charset="0"/>
                <a:cs typeface="Times New Roman" panose="02020603050405020304" pitchFamily="18" charset="0"/>
              </a:rPr>
              <a:t>This requires logistics optimizations, by using methods such as:</a:t>
            </a:r>
          </a:p>
          <a:p>
            <a:pPr marL="342900" indent="-342900" algn="just">
              <a:buFont typeface="+mj-lt"/>
              <a:buAutoNum type="arabicPeriod"/>
            </a:pPr>
            <a:r>
              <a:rPr lang="en-IN" dirty="0">
                <a:latin typeface="Times New Roman" panose="02020603050405020304" pitchFamily="18" charset="0"/>
                <a:cs typeface="Times New Roman" panose="02020603050405020304" pitchFamily="18" charset="0"/>
              </a:rPr>
              <a:t>Optimization Technology – This involves mapping out the entire supply chain and collecting information such as distribution costs and the size of the orders.</a:t>
            </a:r>
          </a:p>
          <a:p>
            <a:pPr marL="342900" indent="-342900" algn="just">
              <a:buFont typeface="+mj-lt"/>
              <a:buAutoNum type="arabicPeriod"/>
            </a:pPr>
            <a:r>
              <a:rPr lang="en-IN" dirty="0">
                <a:latin typeface="Times New Roman" panose="02020603050405020304" pitchFamily="18" charset="0"/>
                <a:cs typeface="Times New Roman" panose="02020603050405020304" pitchFamily="18" charset="0"/>
              </a:rPr>
              <a:t>Fulfilling Same Day Delivery – This means that the order should be ready to ship within 3-4 hours of placing the order. Combined with Last Mile Delivery, this speeds up the entire process.</a:t>
            </a:r>
          </a:p>
          <a:p>
            <a:pPr marL="342900" indent="-342900" algn="just">
              <a:buFont typeface="+mj-lt"/>
              <a:buAutoNum type="arabicPeriod"/>
            </a:pPr>
            <a:endParaRPr lang="en-IN" dirty="0">
              <a:latin typeface="Times New Roman" panose="02020603050405020304" pitchFamily="18" charset="0"/>
              <a:cs typeface="Times New Roman" panose="02020603050405020304" pitchFamily="18" charset="0"/>
            </a:endParaRPr>
          </a:p>
          <a:p>
            <a:pPr algn="just"/>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884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08EA0-FD80-C65E-773B-EF385E95439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Review Of Literature</a:t>
            </a:r>
          </a:p>
        </p:txBody>
      </p:sp>
      <p:sp>
        <p:nvSpPr>
          <p:cNvPr id="3" name="Content Placeholder 2">
            <a:extLst>
              <a:ext uri="{FF2B5EF4-FFF2-40B4-BE49-F238E27FC236}">
                <a16:creationId xmlns:a16="http://schemas.microsoft.com/office/drawing/2014/main" id="{39875575-AB0A-6000-1C8E-4C85178249FB}"/>
              </a:ext>
            </a:extLst>
          </p:cNvPr>
          <p:cNvSpPr>
            <a:spLocks noGrp="1"/>
          </p:cNvSpPr>
          <p:nvPr>
            <p:ph idx="1"/>
          </p:nvPr>
        </p:nvSpPr>
        <p:spPr/>
        <p:txBody>
          <a:bodyPr/>
          <a:lstStyle/>
          <a:p>
            <a:pPr marL="342900" indent="-342900" algn="just">
              <a:buFont typeface="+mj-lt"/>
              <a:buAutoNum type="arabicPeriod" startAt="3"/>
            </a:pPr>
            <a:r>
              <a:rPr lang="en-IN" dirty="0">
                <a:latin typeface="Times New Roman" panose="02020603050405020304" pitchFamily="18" charset="0"/>
                <a:cs typeface="Times New Roman" panose="02020603050405020304" pitchFamily="18" charset="0"/>
              </a:rPr>
              <a:t>Developing Cost Effective SCM – By scanning and automating as many steps as possible, results in massive savings.</a:t>
            </a:r>
          </a:p>
          <a:p>
            <a:pPr marL="342900" indent="-342900" algn="just">
              <a:buFont typeface="+mj-lt"/>
              <a:buAutoNum type="arabicPeriod" startAt="3"/>
            </a:pPr>
            <a:r>
              <a:rPr lang="en-IN" dirty="0">
                <a:latin typeface="Times New Roman" panose="02020603050405020304" pitchFamily="18" charset="0"/>
                <a:cs typeface="Times New Roman" panose="02020603050405020304" pitchFamily="18" charset="0"/>
              </a:rPr>
              <a:t>Managing live delivery with end-to-end visibility – Optimization involves using AI and ML to select the best path for delivery along with choosing the nearest driver.</a:t>
            </a:r>
          </a:p>
        </p:txBody>
      </p:sp>
    </p:spTree>
    <p:extLst>
      <p:ext uri="{BB962C8B-B14F-4D97-AF65-F5344CB8AC3E}">
        <p14:creationId xmlns:p14="http://schemas.microsoft.com/office/powerpoint/2010/main" val="3294539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08B8-3701-3683-A9A0-FF64183ABFC6}"/>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Review Of Literature</a:t>
            </a:r>
          </a:p>
        </p:txBody>
      </p:sp>
      <p:sp>
        <p:nvSpPr>
          <p:cNvPr id="3" name="Content Placeholder 2">
            <a:extLst>
              <a:ext uri="{FF2B5EF4-FFF2-40B4-BE49-F238E27FC236}">
                <a16:creationId xmlns:a16="http://schemas.microsoft.com/office/drawing/2014/main" id="{CB5849F5-034A-5C4A-51AA-4C1606A52FB2}"/>
              </a:ext>
            </a:extLst>
          </p:cNvPr>
          <p:cNvSpPr>
            <a:spLocks noGrp="1"/>
          </p:cNvSpPr>
          <p:nvPr>
            <p:ph idx="1"/>
          </p:nvPr>
        </p:nvSpPr>
        <p:spPr/>
        <p:txBody>
          <a:bodyPr>
            <a:normAutofit lnSpcReduction="10000"/>
          </a:bodyPr>
          <a:lstStyle/>
          <a:p>
            <a:pPr algn="just"/>
            <a:r>
              <a:rPr lang="en-IN" b="1" dirty="0">
                <a:latin typeface="Times New Roman" panose="02020603050405020304" pitchFamily="18" charset="0"/>
                <a:cs typeface="Times New Roman" panose="02020603050405020304" pitchFamily="18" charset="0"/>
              </a:rPr>
              <a:t>Supply Chain Management in a Dairy Industry – A Case Study</a:t>
            </a:r>
          </a:p>
          <a:p>
            <a:pPr algn="just"/>
            <a:r>
              <a:rPr lang="en-IN" dirty="0">
                <a:latin typeface="Times New Roman" panose="02020603050405020304" pitchFamily="18" charset="0"/>
                <a:cs typeface="Times New Roman" panose="02020603050405020304" pitchFamily="18" charset="0"/>
              </a:rPr>
              <a:t>A supply chain is a model where various business entities come together to address the issue of material and information flow.</a:t>
            </a:r>
          </a:p>
          <a:p>
            <a:pPr algn="just"/>
            <a:r>
              <a:rPr lang="en-IN" dirty="0">
                <a:latin typeface="Times New Roman" panose="02020603050405020304" pitchFamily="18" charset="0"/>
                <a:cs typeface="Times New Roman" panose="02020603050405020304" pitchFamily="18" charset="0"/>
              </a:rPr>
              <a:t>By using a reference model, an attempt has been made to develop a co-ordinated supply chain model with </a:t>
            </a:r>
            <a:r>
              <a:rPr lang="en-IN" sz="1800" b="0" i="0" u="none" strike="noStrike" baseline="0" dirty="0">
                <a:solidFill>
                  <a:srgbClr val="000000"/>
                </a:solidFill>
                <a:latin typeface="Times New Roman" panose="02020603050405020304" pitchFamily="18" charset="0"/>
                <a:cs typeface="Times New Roman" panose="02020603050405020304" pitchFamily="18" charset="0"/>
              </a:rPr>
              <a:t>procurement, production and distribution systems.</a:t>
            </a:r>
          </a:p>
          <a:p>
            <a:pPr algn="just"/>
            <a:r>
              <a:rPr lang="en-US" sz="1800" b="0" i="0" u="none" strike="noStrike" baseline="0" dirty="0">
                <a:solidFill>
                  <a:srgbClr val="000000"/>
                </a:solidFill>
                <a:latin typeface="Times New Roman" panose="02020603050405020304" pitchFamily="18" charset="0"/>
                <a:cs typeface="Times New Roman" panose="02020603050405020304" pitchFamily="18" charset="0"/>
              </a:rPr>
              <a:t>A multi-objective function is then formulated to minimize cost subject to supplies, plant and distribution capacities, production and distribution through put limits and customs demand requirements. </a:t>
            </a:r>
          </a:p>
          <a:p>
            <a:pPr algn="just"/>
            <a:r>
              <a:rPr lang="en-US" sz="1800" b="0" i="0" u="none" strike="noStrike" baseline="0" dirty="0">
                <a:solidFill>
                  <a:srgbClr val="000000"/>
                </a:solidFill>
                <a:latin typeface="Times New Roman" panose="02020603050405020304" pitchFamily="18" charset="0"/>
                <a:cs typeface="Times New Roman" panose="02020603050405020304" pitchFamily="18" charset="0"/>
              </a:rPr>
              <a:t>Total cost includes fixed costs of production and distribution, variable costs of production, distribution and transportation. This model consists of four echelons namely Suppliers, Plants, Distribution </a:t>
            </a:r>
            <a:r>
              <a:rPr lang="en-US" sz="1800" b="0" i="0" u="none" strike="noStrike" baseline="0" dirty="0" err="1">
                <a:solidFill>
                  <a:srgbClr val="000000"/>
                </a:solidFill>
                <a:latin typeface="Times New Roman" panose="02020603050405020304" pitchFamily="18" charset="0"/>
                <a:cs typeface="Times New Roman" panose="02020603050405020304" pitchFamily="18" charset="0"/>
              </a:rPr>
              <a:t>Centres</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 (DCs), and Customer zones (CZs).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2942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69683-5D47-1EE3-3261-99DB9A92BBB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System Model</a:t>
            </a:r>
          </a:p>
        </p:txBody>
      </p:sp>
      <p:sp>
        <p:nvSpPr>
          <p:cNvPr id="3" name="Content Placeholder 2">
            <a:extLst>
              <a:ext uri="{FF2B5EF4-FFF2-40B4-BE49-F238E27FC236}">
                <a16:creationId xmlns:a16="http://schemas.microsoft.com/office/drawing/2014/main" id="{CBB1A195-7A54-089A-5BCA-352A06522E2F}"/>
              </a:ext>
            </a:extLst>
          </p:cNvPr>
          <p:cNvSpPr>
            <a:spLocks noGrp="1"/>
          </p:cNvSpPr>
          <p:nvPr>
            <p:ph idx="1"/>
          </p:nvPr>
        </p:nvSpPr>
        <p:spPr/>
        <p:txBody>
          <a:bodyPr/>
          <a:lstStyle/>
          <a:p>
            <a:pPr marL="0" indent="0" algn="just">
              <a:buNone/>
            </a:pPr>
            <a:r>
              <a:rPr lang="en-IN" b="1" dirty="0"/>
              <a:t>Mathematical Model</a:t>
            </a:r>
          </a:p>
          <a:p>
            <a:pPr algn="just"/>
            <a:r>
              <a:rPr lang="en-IN" sz="1800" b="0" i="0" u="none" strike="noStrike" baseline="0" dirty="0">
                <a:solidFill>
                  <a:srgbClr val="000000"/>
                </a:solidFill>
                <a:latin typeface="Times New Roman" panose="02020603050405020304" pitchFamily="18" charset="0"/>
              </a:rPr>
              <a:t>Material Cost = </a:t>
            </a:r>
            <a:r>
              <a:rPr lang="el-GR" sz="1800" b="0" i="0" u="none" strike="noStrike" baseline="0" dirty="0">
                <a:solidFill>
                  <a:srgbClr val="000000"/>
                </a:solidFill>
                <a:latin typeface="Times New Roman" panose="02020603050405020304" pitchFamily="18" charset="0"/>
              </a:rPr>
              <a:t>Σ </a:t>
            </a:r>
            <a:r>
              <a:rPr lang="en-IN" sz="1800" b="0" i="0" u="none" strike="noStrike" baseline="0" dirty="0" err="1">
                <a:solidFill>
                  <a:srgbClr val="000000"/>
                </a:solidFill>
                <a:latin typeface="Times New Roman" panose="02020603050405020304" pitchFamily="18" charset="0"/>
              </a:rPr>
              <a:t>Av,m</a:t>
            </a:r>
            <a:r>
              <a:rPr lang="en-IN" sz="1800" b="0" i="0" u="none" strike="noStrike" baseline="0" dirty="0">
                <a:solidFill>
                  <a:srgbClr val="000000"/>
                </a:solidFill>
                <a:latin typeface="Times New Roman" panose="02020603050405020304" pitchFamily="18" charset="0"/>
              </a:rPr>
              <a:t> x </a:t>
            </a:r>
            <a:r>
              <a:rPr lang="en-IN" sz="1800" b="0" i="0" u="none" strike="noStrike" baseline="0" dirty="0" err="1">
                <a:solidFill>
                  <a:srgbClr val="000000"/>
                </a:solidFill>
                <a:latin typeface="Times New Roman" panose="02020603050405020304" pitchFamily="18" charset="0"/>
              </a:rPr>
              <a:t>Cv,m</a:t>
            </a:r>
            <a:r>
              <a:rPr lang="en-IN" sz="1800" b="0" i="0" u="none" strike="noStrike" baseline="0" dirty="0">
                <a:solidFill>
                  <a:srgbClr val="000000"/>
                </a:solidFill>
                <a:latin typeface="Times New Roman" panose="02020603050405020304" pitchFamily="18" charset="0"/>
              </a:rPr>
              <a:t> </a:t>
            </a:r>
            <a:r>
              <a:rPr lang="en-IN" sz="1800" b="0" i="0" u="none" strike="noStrike" baseline="0" dirty="0">
                <a:solidFill>
                  <a:srgbClr val="000000"/>
                </a:solidFill>
                <a:latin typeface="Cambria Math" panose="02040503050406030204" pitchFamily="18" charset="0"/>
              </a:rPr>
              <a:t>∀</a:t>
            </a:r>
            <a:r>
              <a:rPr lang="en-IN" sz="1800" b="0" i="0" u="none" strike="noStrike" baseline="0" dirty="0" err="1">
                <a:solidFill>
                  <a:srgbClr val="000000"/>
                </a:solidFill>
                <a:latin typeface="Times New Roman" panose="02020603050405020304" pitchFamily="18" charset="0"/>
              </a:rPr>
              <a:t>v,m</a:t>
            </a:r>
            <a:r>
              <a:rPr lang="en-IN" sz="1800" b="0" i="0" u="none" strike="noStrike" baseline="0" dirty="0">
                <a:solidFill>
                  <a:srgbClr val="000000"/>
                </a:solidFill>
                <a:latin typeface="Times New Roman" panose="02020603050405020304" pitchFamily="18" charset="0"/>
              </a:rPr>
              <a:t> ; where v = vendor, m = material </a:t>
            </a:r>
          </a:p>
          <a:p>
            <a:pPr algn="just"/>
            <a:r>
              <a:rPr lang="en-IN" sz="1800" b="0" i="0" u="none" strike="noStrike" baseline="0" dirty="0">
                <a:solidFill>
                  <a:srgbClr val="000000"/>
                </a:solidFill>
                <a:latin typeface="Times New Roman" panose="02020603050405020304" pitchFamily="18" charset="0"/>
              </a:rPr>
              <a:t>Production Cost = </a:t>
            </a:r>
            <a:r>
              <a:rPr lang="el-GR" sz="1800" b="0" i="0" u="none" strike="noStrike" baseline="0" dirty="0">
                <a:solidFill>
                  <a:srgbClr val="000000"/>
                </a:solidFill>
                <a:latin typeface="Times New Roman" panose="02020603050405020304" pitchFamily="18" charset="0"/>
              </a:rPr>
              <a:t>Σ </a:t>
            </a:r>
            <a:r>
              <a:rPr lang="en-IN" sz="1800" b="0" i="0" u="none" strike="noStrike" baseline="0" dirty="0" err="1">
                <a:solidFill>
                  <a:srgbClr val="000000"/>
                </a:solidFill>
                <a:latin typeface="Times New Roman" panose="02020603050405020304" pitchFamily="18" charset="0"/>
              </a:rPr>
              <a:t>Ag,f</a:t>
            </a:r>
            <a:r>
              <a:rPr lang="en-IN" sz="1800" b="0" i="0" u="none" strike="noStrike" baseline="0" dirty="0">
                <a:solidFill>
                  <a:srgbClr val="000000"/>
                </a:solidFill>
                <a:latin typeface="Times New Roman" panose="02020603050405020304" pitchFamily="18" charset="0"/>
              </a:rPr>
              <a:t> x </a:t>
            </a:r>
            <a:r>
              <a:rPr lang="en-IN" sz="1800" b="0" i="0" u="none" strike="noStrike" baseline="0" dirty="0" err="1">
                <a:solidFill>
                  <a:srgbClr val="000000"/>
                </a:solidFill>
                <a:latin typeface="Times New Roman" panose="02020603050405020304" pitchFamily="18" charset="0"/>
              </a:rPr>
              <a:t>Cg,f</a:t>
            </a:r>
            <a:r>
              <a:rPr lang="en-IN" sz="1800" b="0" i="0" u="none" strike="noStrike" baseline="0" dirty="0">
                <a:solidFill>
                  <a:srgbClr val="000000"/>
                </a:solidFill>
                <a:latin typeface="Times New Roman" panose="02020603050405020304" pitchFamily="18" charset="0"/>
              </a:rPr>
              <a:t> </a:t>
            </a:r>
            <a:r>
              <a:rPr lang="en-IN" sz="1800" b="0" i="0" u="none" strike="noStrike" baseline="0" dirty="0">
                <a:solidFill>
                  <a:srgbClr val="000000"/>
                </a:solidFill>
                <a:latin typeface="Cambria Math" panose="02040503050406030204" pitchFamily="18" charset="0"/>
              </a:rPr>
              <a:t>∀</a:t>
            </a:r>
            <a:r>
              <a:rPr lang="en-IN" sz="1800" b="0" i="0" u="none" strike="noStrike" baseline="0" dirty="0" err="1">
                <a:solidFill>
                  <a:srgbClr val="000000"/>
                </a:solidFill>
                <a:latin typeface="Times New Roman" panose="02020603050405020304" pitchFamily="18" charset="0"/>
              </a:rPr>
              <a:t>f,g</a:t>
            </a:r>
            <a:r>
              <a:rPr lang="en-IN" sz="1800" b="0" i="0" u="none" strike="noStrike" baseline="0" dirty="0">
                <a:solidFill>
                  <a:srgbClr val="000000"/>
                </a:solidFill>
                <a:latin typeface="Times New Roman" panose="02020603050405020304" pitchFamily="18" charset="0"/>
              </a:rPr>
              <a:t> ; </a:t>
            </a:r>
            <a:r>
              <a:rPr lang="en-US" sz="1800" b="0" i="0" u="none" strike="noStrike" baseline="0" dirty="0">
                <a:solidFill>
                  <a:srgbClr val="000000"/>
                </a:solidFill>
                <a:latin typeface="Times New Roman" panose="02020603050405020304" pitchFamily="18" charset="0"/>
              </a:rPr>
              <a:t>where g = goods, f = facility </a:t>
            </a:r>
          </a:p>
          <a:p>
            <a:pPr algn="just"/>
            <a:r>
              <a:rPr lang="de-DE" sz="1800" b="0" i="0" u="none" strike="noStrike" baseline="0" dirty="0">
                <a:solidFill>
                  <a:srgbClr val="000000"/>
                </a:solidFill>
                <a:latin typeface="Times New Roman" panose="02020603050405020304" pitchFamily="18" charset="0"/>
              </a:rPr>
              <a:t>Transportation Cost = Σ Am,v,f x Cm,v,f </a:t>
            </a:r>
            <a:r>
              <a:rPr lang="de-DE" sz="1800" b="0" i="0" u="none" strike="noStrike" baseline="0" dirty="0">
                <a:solidFill>
                  <a:srgbClr val="000000"/>
                </a:solidFill>
                <a:latin typeface="Cambria Math" panose="02040503050406030204" pitchFamily="18" charset="0"/>
              </a:rPr>
              <a:t>∀</a:t>
            </a:r>
            <a:r>
              <a:rPr lang="de-DE" sz="1800" b="0" i="0" u="none" strike="noStrike" baseline="0" dirty="0">
                <a:solidFill>
                  <a:srgbClr val="000000"/>
                </a:solidFill>
                <a:latin typeface="Times New Roman" panose="02020603050405020304" pitchFamily="18" charset="0"/>
              </a:rPr>
              <a:t>v,f,m + </a:t>
            </a:r>
            <a:r>
              <a:rPr lang="pl-PL" sz="1800" b="0" i="0" u="none" strike="noStrike" baseline="0" dirty="0">
                <a:solidFill>
                  <a:srgbClr val="000000"/>
                </a:solidFill>
                <a:latin typeface="Times New Roman" panose="02020603050405020304" pitchFamily="18" charset="0"/>
              </a:rPr>
              <a:t>Σ Ag,f,w x Cg,w,f </a:t>
            </a:r>
            <a:r>
              <a:rPr lang="pl-PL" sz="1800" b="0" i="0" u="none" strike="noStrike" baseline="0" dirty="0">
                <a:solidFill>
                  <a:srgbClr val="000000"/>
                </a:solidFill>
                <a:latin typeface="Cambria Math" panose="02040503050406030204" pitchFamily="18" charset="0"/>
              </a:rPr>
              <a:t>∀</a:t>
            </a:r>
            <a:r>
              <a:rPr lang="pl-PL" sz="1800" b="0" i="0" u="none" strike="noStrike" baseline="0" dirty="0">
                <a:solidFill>
                  <a:srgbClr val="000000"/>
                </a:solidFill>
                <a:latin typeface="Times New Roman" panose="02020603050405020304" pitchFamily="18" charset="0"/>
              </a:rPr>
              <a:t>f,w,g + Σ Ag,w,c x Cg,w,c </a:t>
            </a:r>
            <a:r>
              <a:rPr lang="pl-PL" sz="1800" b="0" i="0" u="none" strike="noStrike" baseline="0" dirty="0">
                <a:solidFill>
                  <a:srgbClr val="000000"/>
                </a:solidFill>
                <a:latin typeface="Cambria Math" panose="02040503050406030204" pitchFamily="18" charset="0"/>
              </a:rPr>
              <a:t>∀</a:t>
            </a:r>
            <a:r>
              <a:rPr lang="pl-PL" sz="1800" b="0" i="0" u="none" strike="noStrike" baseline="0" dirty="0">
                <a:solidFill>
                  <a:srgbClr val="000000"/>
                </a:solidFill>
                <a:latin typeface="Times New Roman" panose="02020603050405020304" pitchFamily="18" charset="0"/>
              </a:rPr>
              <a:t>w,c,g</a:t>
            </a:r>
            <a:r>
              <a:rPr lang="en-IN" sz="1800" b="0" i="0" u="none" strike="noStrike" baseline="0" dirty="0">
                <a:solidFill>
                  <a:srgbClr val="000000"/>
                </a:solidFill>
                <a:latin typeface="Times New Roman" panose="02020603050405020304" pitchFamily="18" charset="0"/>
              </a:rPr>
              <a:t> </a:t>
            </a:r>
            <a:r>
              <a:rPr lang="en-US" dirty="0">
                <a:solidFill>
                  <a:srgbClr val="000000"/>
                </a:solidFill>
                <a:latin typeface="Times New Roman" panose="02020603050405020304" pitchFamily="18" charset="0"/>
              </a:rPr>
              <a:t>w</a:t>
            </a:r>
            <a:r>
              <a:rPr lang="en-US" sz="1800" b="0" i="0" u="none" strike="noStrike" baseline="0" dirty="0">
                <a:solidFill>
                  <a:srgbClr val="000000"/>
                </a:solidFill>
                <a:latin typeface="Times New Roman" panose="02020603050405020304" pitchFamily="18" charset="0"/>
              </a:rPr>
              <a:t>here v = vendor, f = facility, m = material, w = warehouse, g = goods, c = customer </a:t>
            </a:r>
          </a:p>
          <a:p>
            <a:pPr algn="just"/>
            <a:r>
              <a:rPr lang="en-IN" sz="1800" b="0" i="0" u="none" strike="noStrike" baseline="0" dirty="0">
                <a:solidFill>
                  <a:srgbClr val="000000"/>
                </a:solidFill>
                <a:latin typeface="Times New Roman" panose="02020603050405020304" pitchFamily="18" charset="0"/>
              </a:rPr>
              <a:t>Objective Function = Min (</a:t>
            </a:r>
            <a:r>
              <a:rPr lang="el-GR" sz="1800" b="0" i="0" u="none" strike="noStrike" baseline="0" dirty="0">
                <a:solidFill>
                  <a:srgbClr val="000000"/>
                </a:solidFill>
                <a:latin typeface="Times New Roman" panose="02020603050405020304" pitchFamily="18" charset="0"/>
              </a:rPr>
              <a:t>Σ </a:t>
            </a:r>
            <a:r>
              <a:rPr lang="en-IN" sz="1800" b="0" i="0" u="none" strike="noStrike" baseline="0" dirty="0" err="1">
                <a:solidFill>
                  <a:srgbClr val="000000"/>
                </a:solidFill>
                <a:latin typeface="Times New Roman" panose="02020603050405020304" pitchFamily="18" charset="0"/>
              </a:rPr>
              <a:t>Av,m</a:t>
            </a:r>
            <a:r>
              <a:rPr lang="en-IN" sz="1800" b="0" i="0" u="none" strike="noStrike" baseline="0" dirty="0">
                <a:solidFill>
                  <a:srgbClr val="000000"/>
                </a:solidFill>
                <a:latin typeface="Times New Roman" panose="02020603050405020304" pitchFamily="18" charset="0"/>
              </a:rPr>
              <a:t> x </a:t>
            </a:r>
            <a:r>
              <a:rPr lang="en-IN" sz="1800" b="0" i="0" u="none" strike="noStrike" baseline="0" dirty="0" err="1">
                <a:solidFill>
                  <a:srgbClr val="000000"/>
                </a:solidFill>
                <a:latin typeface="Times New Roman" panose="02020603050405020304" pitchFamily="18" charset="0"/>
              </a:rPr>
              <a:t>Cv,m</a:t>
            </a:r>
            <a:r>
              <a:rPr lang="en-IN" sz="1800" b="0" i="0" u="none" strike="noStrike" baseline="0" dirty="0">
                <a:solidFill>
                  <a:srgbClr val="000000"/>
                </a:solidFill>
                <a:latin typeface="Times New Roman" panose="02020603050405020304" pitchFamily="18" charset="0"/>
              </a:rPr>
              <a:t> </a:t>
            </a:r>
            <a:r>
              <a:rPr lang="en-IN" sz="1800" b="0" i="0" u="none" strike="noStrike" baseline="0" dirty="0">
                <a:solidFill>
                  <a:srgbClr val="000000"/>
                </a:solidFill>
                <a:latin typeface="Cambria Math" panose="02040503050406030204" pitchFamily="18" charset="0"/>
              </a:rPr>
              <a:t>∀</a:t>
            </a:r>
            <a:r>
              <a:rPr lang="en-IN" sz="1800" b="0" i="0" u="none" strike="noStrike" baseline="0" dirty="0" err="1">
                <a:solidFill>
                  <a:srgbClr val="000000"/>
                </a:solidFill>
                <a:latin typeface="Times New Roman" panose="02020603050405020304" pitchFamily="18" charset="0"/>
              </a:rPr>
              <a:t>v,m</a:t>
            </a:r>
            <a:r>
              <a:rPr lang="en-IN" sz="1800" b="0" i="0" u="none" strike="noStrike" baseline="0" dirty="0">
                <a:solidFill>
                  <a:srgbClr val="000000"/>
                </a:solidFill>
                <a:latin typeface="Times New Roman" panose="02020603050405020304" pitchFamily="18" charset="0"/>
              </a:rPr>
              <a:t> + </a:t>
            </a:r>
            <a:r>
              <a:rPr lang="el-GR" sz="1800" b="0" i="0" u="none" strike="noStrike" baseline="0" dirty="0">
                <a:solidFill>
                  <a:srgbClr val="000000"/>
                </a:solidFill>
                <a:latin typeface="Times New Roman" panose="02020603050405020304" pitchFamily="18" charset="0"/>
              </a:rPr>
              <a:t>Σ </a:t>
            </a:r>
            <a:r>
              <a:rPr lang="en-IN" sz="1800" b="0" i="0" u="none" strike="noStrike" baseline="0" dirty="0" err="1">
                <a:solidFill>
                  <a:srgbClr val="000000"/>
                </a:solidFill>
                <a:latin typeface="Times New Roman" panose="02020603050405020304" pitchFamily="18" charset="0"/>
              </a:rPr>
              <a:t>Ag,f</a:t>
            </a:r>
            <a:r>
              <a:rPr lang="en-IN" sz="1800" b="0" i="0" u="none" strike="noStrike" baseline="0" dirty="0">
                <a:solidFill>
                  <a:srgbClr val="000000"/>
                </a:solidFill>
                <a:latin typeface="Times New Roman" panose="02020603050405020304" pitchFamily="18" charset="0"/>
              </a:rPr>
              <a:t> x </a:t>
            </a:r>
            <a:r>
              <a:rPr lang="en-IN" sz="1800" b="0" i="0" u="none" strike="noStrike" baseline="0" dirty="0" err="1">
                <a:solidFill>
                  <a:srgbClr val="000000"/>
                </a:solidFill>
                <a:latin typeface="Times New Roman" panose="02020603050405020304" pitchFamily="18" charset="0"/>
              </a:rPr>
              <a:t>Cg,f</a:t>
            </a:r>
            <a:r>
              <a:rPr lang="en-IN" sz="1800" b="0" i="0" u="none" strike="noStrike" baseline="0" dirty="0">
                <a:solidFill>
                  <a:srgbClr val="000000"/>
                </a:solidFill>
                <a:latin typeface="Times New Roman" panose="02020603050405020304" pitchFamily="18" charset="0"/>
              </a:rPr>
              <a:t> </a:t>
            </a:r>
            <a:r>
              <a:rPr lang="en-IN" sz="1800" b="0" i="0" u="none" strike="noStrike" baseline="0" dirty="0">
                <a:solidFill>
                  <a:srgbClr val="000000"/>
                </a:solidFill>
                <a:latin typeface="Cambria Math" panose="02040503050406030204" pitchFamily="18" charset="0"/>
              </a:rPr>
              <a:t>∀</a:t>
            </a:r>
            <a:r>
              <a:rPr lang="en-IN" sz="1800" b="0" i="0" u="none" strike="noStrike" baseline="0" dirty="0" err="1">
                <a:solidFill>
                  <a:srgbClr val="000000"/>
                </a:solidFill>
                <a:latin typeface="Times New Roman" panose="02020603050405020304" pitchFamily="18" charset="0"/>
              </a:rPr>
              <a:t>f,g</a:t>
            </a:r>
            <a:r>
              <a:rPr lang="en-IN" sz="1800" b="0" i="0" u="none" strike="noStrike" baseline="0" dirty="0">
                <a:solidFill>
                  <a:srgbClr val="000000"/>
                </a:solidFill>
                <a:latin typeface="Times New Roman" panose="02020603050405020304" pitchFamily="18" charset="0"/>
              </a:rPr>
              <a:t> + </a:t>
            </a:r>
            <a:r>
              <a:rPr lang="el-GR" sz="1800" b="0" i="0" u="none" strike="noStrike" baseline="0" dirty="0">
                <a:solidFill>
                  <a:srgbClr val="000000"/>
                </a:solidFill>
                <a:latin typeface="Times New Roman" panose="02020603050405020304" pitchFamily="18" charset="0"/>
              </a:rPr>
              <a:t>Σ </a:t>
            </a:r>
            <a:r>
              <a:rPr lang="en-IN" sz="1800" b="0" i="0" u="none" strike="noStrike" baseline="0" dirty="0" err="1">
                <a:solidFill>
                  <a:srgbClr val="000000"/>
                </a:solidFill>
                <a:latin typeface="Times New Roman" panose="02020603050405020304" pitchFamily="18" charset="0"/>
              </a:rPr>
              <a:t>Am,v,f</a:t>
            </a:r>
            <a:r>
              <a:rPr lang="en-IN" sz="1800" b="0" i="0" u="none" strike="noStrike" baseline="0" dirty="0">
                <a:solidFill>
                  <a:srgbClr val="000000"/>
                </a:solidFill>
                <a:latin typeface="Times New Roman" panose="02020603050405020304" pitchFamily="18" charset="0"/>
              </a:rPr>
              <a:t> x </a:t>
            </a:r>
            <a:r>
              <a:rPr lang="en-IN" sz="1800" b="0" i="0" u="none" strike="noStrike" baseline="0" dirty="0" err="1">
                <a:solidFill>
                  <a:srgbClr val="000000"/>
                </a:solidFill>
                <a:latin typeface="Times New Roman" panose="02020603050405020304" pitchFamily="18" charset="0"/>
              </a:rPr>
              <a:t>Cm,v,f</a:t>
            </a:r>
            <a:r>
              <a:rPr lang="en-IN" sz="1800" b="0" i="0" u="none" strike="noStrike" baseline="0" dirty="0">
                <a:solidFill>
                  <a:srgbClr val="000000"/>
                </a:solidFill>
                <a:latin typeface="Times New Roman" panose="02020603050405020304" pitchFamily="18" charset="0"/>
              </a:rPr>
              <a:t> </a:t>
            </a:r>
            <a:r>
              <a:rPr lang="en-IN" sz="1800" b="0" i="0" u="none" strike="noStrike" baseline="0" dirty="0">
                <a:solidFill>
                  <a:srgbClr val="000000"/>
                </a:solidFill>
                <a:latin typeface="Cambria Math" panose="02040503050406030204" pitchFamily="18" charset="0"/>
              </a:rPr>
              <a:t>∀</a:t>
            </a:r>
            <a:r>
              <a:rPr lang="en-IN" sz="1800" b="0" i="0" u="none" strike="noStrike" baseline="0" dirty="0" err="1">
                <a:solidFill>
                  <a:srgbClr val="000000"/>
                </a:solidFill>
                <a:latin typeface="Times New Roman" panose="02020603050405020304" pitchFamily="18" charset="0"/>
              </a:rPr>
              <a:t>v,f,m</a:t>
            </a:r>
            <a:r>
              <a:rPr lang="en-IN" sz="1800" b="0" i="0" u="none" strike="noStrike" baseline="0" dirty="0">
                <a:solidFill>
                  <a:srgbClr val="000000"/>
                </a:solidFill>
                <a:latin typeface="Times New Roman" panose="02020603050405020304" pitchFamily="18" charset="0"/>
              </a:rPr>
              <a:t> + </a:t>
            </a:r>
            <a:r>
              <a:rPr lang="el-GR" sz="1800" b="0" i="0" u="none" strike="noStrike" baseline="0" dirty="0">
                <a:solidFill>
                  <a:srgbClr val="000000"/>
                </a:solidFill>
                <a:latin typeface="Times New Roman" panose="02020603050405020304" pitchFamily="18" charset="0"/>
              </a:rPr>
              <a:t>Σ </a:t>
            </a:r>
            <a:r>
              <a:rPr lang="en-IN" sz="1800" b="0" i="0" u="none" strike="noStrike" baseline="0" dirty="0" err="1">
                <a:solidFill>
                  <a:srgbClr val="000000"/>
                </a:solidFill>
                <a:latin typeface="Times New Roman" panose="02020603050405020304" pitchFamily="18" charset="0"/>
              </a:rPr>
              <a:t>Ag,f,w</a:t>
            </a:r>
            <a:r>
              <a:rPr lang="en-IN" sz="1800" b="0" i="0" u="none" strike="noStrike" baseline="0" dirty="0">
                <a:solidFill>
                  <a:srgbClr val="000000"/>
                </a:solidFill>
                <a:latin typeface="Times New Roman" panose="02020603050405020304" pitchFamily="18" charset="0"/>
              </a:rPr>
              <a:t> x </a:t>
            </a:r>
            <a:r>
              <a:rPr lang="en-IN" sz="1800" b="0" i="0" u="none" strike="noStrike" baseline="0" dirty="0" err="1">
                <a:solidFill>
                  <a:srgbClr val="000000"/>
                </a:solidFill>
                <a:latin typeface="Times New Roman" panose="02020603050405020304" pitchFamily="18" charset="0"/>
              </a:rPr>
              <a:t>Cg,w,f</a:t>
            </a:r>
            <a:r>
              <a:rPr lang="en-IN" sz="1800" b="0" i="0" u="none" strike="noStrike" baseline="0" dirty="0">
                <a:solidFill>
                  <a:srgbClr val="000000"/>
                </a:solidFill>
                <a:latin typeface="Times New Roman" panose="02020603050405020304" pitchFamily="18" charset="0"/>
              </a:rPr>
              <a:t> </a:t>
            </a:r>
            <a:r>
              <a:rPr lang="en-IN" sz="1800" b="0" i="0" u="none" strike="noStrike" baseline="0" dirty="0">
                <a:solidFill>
                  <a:srgbClr val="000000"/>
                </a:solidFill>
                <a:latin typeface="Cambria Math" panose="02040503050406030204" pitchFamily="18" charset="0"/>
              </a:rPr>
              <a:t>∀</a:t>
            </a:r>
            <a:r>
              <a:rPr lang="en-IN" sz="1800" b="0" i="0" u="none" strike="noStrike" baseline="0" dirty="0" err="1">
                <a:solidFill>
                  <a:srgbClr val="000000"/>
                </a:solidFill>
                <a:latin typeface="Times New Roman" panose="02020603050405020304" pitchFamily="18" charset="0"/>
              </a:rPr>
              <a:t>f,w,g</a:t>
            </a:r>
            <a:r>
              <a:rPr lang="en-IN" sz="1800" b="0" i="0" u="none" strike="noStrike" baseline="0" dirty="0">
                <a:solidFill>
                  <a:srgbClr val="000000"/>
                </a:solidFill>
                <a:latin typeface="Times New Roman" panose="02020603050405020304" pitchFamily="18" charset="0"/>
              </a:rPr>
              <a:t> + </a:t>
            </a:r>
            <a:r>
              <a:rPr lang="el-GR" sz="1800" b="0" i="0" u="none" strike="noStrike" baseline="0" dirty="0">
                <a:solidFill>
                  <a:srgbClr val="000000"/>
                </a:solidFill>
                <a:latin typeface="Times New Roman" panose="02020603050405020304" pitchFamily="18" charset="0"/>
              </a:rPr>
              <a:t>Σ </a:t>
            </a:r>
            <a:r>
              <a:rPr lang="en-IN" sz="1800" b="0" i="0" u="none" strike="noStrike" baseline="0" dirty="0" err="1">
                <a:solidFill>
                  <a:srgbClr val="000000"/>
                </a:solidFill>
                <a:latin typeface="Times New Roman" panose="02020603050405020304" pitchFamily="18" charset="0"/>
              </a:rPr>
              <a:t>Ag,w,c</a:t>
            </a:r>
            <a:r>
              <a:rPr lang="en-IN" sz="1800" b="0" i="0" u="none" strike="noStrike" baseline="0" dirty="0">
                <a:solidFill>
                  <a:srgbClr val="000000"/>
                </a:solidFill>
                <a:latin typeface="Times New Roman" panose="02020603050405020304" pitchFamily="18" charset="0"/>
              </a:rPr>
              <a:t> x </a:t>
            </a:r>
            <a:r>
              <a:rPr lang="en-IN" sz="1800" b="0" i="0" u="none" strike="noStrike" baseline="0" dirty="0" err="1">
                <a:solidFill>
                  <a:srgbClr val="000000"/>
                </a:solidFill>
                <a:latin typeface="Times New Roman" panose="02020603050405020304" pitchFamily="18" charset="0"/>
              </a:rPr>
              <a:t>Cg,w,c</a:t>
            </a:r>
            <a:r>
              <a:rPr lang="en-IN" sz="1800" b="0" i="0" u="none" strike="noStrike" baseline="0" dirty="0">
                <a:solidFill>
                  <a:srgbClr val="000000"/>
                </a:solidFill>
                <a:latin typeface="Times New Roman" panose="02020603050405020304" pitchFamily="18" charset="0"/>
              </a:rPr>
              <a:t> </a:t>
            </a:r>
            <a:r>
              <a:rPr lang="en-IN" sz="1800" b="0" i="0" u="none" strike="noStrike" baseline="0" dirty="0">
                <a:solidFill>
                  <a:srgbClr val="000000"/>
                </a:solidFill>
                <a:latin typeface="Cambria Math" panose="02040503050406030204" pitchFamily="18" charset="0"/>
              </a:rPr>
              <a:t>∀</a:t>
            </a:r>
            <a:r>
              <a:rPr lang="en-IN" sz="1800" b="0" i="0" u="none" strike="noStrike" baseline="0" dirty="0" err="1">
                <a:solidFill>
                  <a:srgbClr val="000000"/>
                </a:solidFill>
                <a:latin typeface="Times New Roman" panose="02020603050405020304" pitchFamily="18" charset="0"/>
              </a:rPr>
              <a:t>w,c,g</a:t>
            </a:r>
            <a:r>
              <a:rPr lang="en-IN" sz="1800" b="0" i="0" u="none" strike="noStrike" baseline="0" dirty="0">
                <a:solidFill>
                  <a:srgbClr val="000000"/>
                </a:solidFill>
                <a:latin typeface="Times New Roman" panose="02020603050405020304" pitchFamily="18" charset="0"/>
              </a:rPr>
              <a:t> + IC) </a:t>
            </a:r>
          </a:p>
          <a:p>
            <a:pPr algn="just"/>
            <a:endParaRPr lang="en-IN" sz="1800" b="0" i="0" u="none" strike="noStrike" baseline="0" dirty="0">
              <a:solidFill>
                <a:srgbClr val="000000"/>
              </a:solidFill>
              <a:latin typeface="Times New Roman" panose="02020603050405020304" pitchFamily="18" charset="0"/>
            </a:endParaRPr>
          </a:p>
          <a:p>
            <a:pPr algn="just"/>
            <a:endParaRPr lang="en-IN" b="1" dirty="0"/>
          </a:p>
        </p:txBody>
      </p:sp>
    </p:spTree>
    <p:extLst>
      <p:ext uri="{BB962C8B-B14F-4D97-AF65-F5344CB8AC3E}">
        <p14:creationId xmlns:p14="http://schemas.microsoft.com/office/powerpoint/2010/main" val="1678803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69683-5D47-1EE3-3261-99DB9A92BBB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System Model</a:t>
            </a:r>
          </a:p>
        </p:txBody>
      </p:sp>
      <p:sp>
        <p:nvSpPr>
          <p:cNvPr id="3" name="Content Placeholder 2">
            <a:extLst>
              <a:ext uri="{FF2B5EF4-FFF2-40B4-BE49-F238E27FC236}">
                <a16:creationId xmlns:a16="http://schemas.microsoft.com/office/drawing/2014/main" id="{CBB1A195-7A54-089A-5BCA-352A06522E2F}"/>
              </a:ext>
            </a:extLst>
          </p:cNvPr>
          <p:cNvSpPr>
            <a:spLocks noGrp="1"/>
          </p:cNvSpPr>
          <p:nvPr>
            <p:ph idx="1"/>
          </p:nvPr>
        </p:nvSpPr>
        <p:spPr/>
        <p:txBody>
          <a:bodyPr>
            <a:normAutofit lnSpcReduction="10000"/>
          </a:bodyPr>
          <a:lstStyle/>
          <a:p>
            <a:pPr marL="0" indent="0" algn="just">
              <a:buNone/>
            </a:pPr>
            <a:r>
              <a:rPr lang="en-IN" b="1" dirty="0"/>
              <a:t>Mathematical Model</a:t>
            </a:r>
          </a:p>
          <a:p>
            <a:pPr algn="just"/>
            <a:r>
              <a:rPr lang="en-IN" sz="1800" b="0" i="0" u="none" strike="noStrike" baseline="0" dirty="0">
                <a:solidFill>
                  <a:srgbClr val="000000"/>
                </a:solidFill>
                <a:latin typeface="Times New Roman" panose="02020603050405020304" pitchFamily="18" charset="0"/>
              </a:rPr>
              <a:t>Limits</a:t>
            </a:r>
          </a:p>
          <a:p>
            <a:pPr marL="342900" indent="-342900">
              <a:buFont typeface="+mj-lt"/>
              <a:buAutoNum type="arabicPeriod"/>
            </a:pPr>
            <a:r>
              <a:rPr lang="de-DE" sz="1800" b="0" i="0" u="none" strike="noStrike" baseline="0" dirty="0">
                <a:solidFill>
                  <a:srgbClr val="000000"/>
                </a:solidFill>
                <a:latin typeface="Times New Roman" panose="02020603050405020304" pitchFamily="18" charset="0"/>
              </a:rPr>
              <a:t>0 ≤ Am,v,f ≤ Am,v,f(max) </a:t>
            </a:r>
          </a:p>
          <a:p>
            <a:pPr marL="342900" indent="-342900">
              <a:buFont typeface="+mj-lt"/>
              <a:buAutoNum type="arabicPeriod"/>
            </a:pPr>
            <a:r>
              <a:rPr lang="de-DE" sz="1800" b="0" i="0" u="none" strike="noStrike" baseline="0" dirty="0">
                <a:solidFill>
                  <a:srgbClr val="000000"/>
                </a:solidFill>
                <a:latin typeface="Times New Roman" panose="02020603050405020304" pitchFamily="18" charset="0"/>
              </a:rPr>
              <a:t>0 ≤ Ag,f,w ≤ Ag,f,w(max) </a:t>
            </a:r>
          </a:p>
          <a:p>
            <a:pPr marL="342900" indent="-342900">
              <a:buFont typeface="+mj-lt"/>
              <a:buAutoNum type="arabicPeriod"/>
            </a:pPr>
            <a:r>
              <a:rPr lang="de-DE" sz="1800" b="0" i="0" u="none" strike="noStrike" baseline="0" dirty="0">
                <a:solidFill>
                  <a:srgbClr val="000000"/>
                </a:solidFill>
                <a:latin typeface="Times New Roman" panose="02020603050405020304" pitchFamily="18" charset="0"/>
              </a:rPr>
              <a:t>0 ≤ Ag,w,c ≤ Ag,w,c(max) </a:t>
            </a:r>
          </a:p>
          <a:p>
            <a:pPr marL="342900" indent="-342900">
              <a:buFont typeface="+mj-lt"/>
              <a:buAutoNum type="arabicPeriod"/>
            </a:pPr>
            <a:r>
              <a:rPr lang="de-DE" sz="1800" b="0" i="0" u="none" strike="noStrike" baseline="0" dirty="0">
                <a:solidFill>
                  <a:srgbClr val="000000"/>
                </a:solidFill>
                <a:latin typeface="Times New Roman" panose="02020603050405020304" pitchFamily="18" charset="0"/>
              </a:rPr>
              <a:t>Ag,f(min) ≤ Ag,f ≤ Ag,f(max) </a:t>
            </a:r>
          </a:p>
          <a:p>
            <a:r>
              <a:rPr lang="de-DE" dirty="0">
                <a:solidFill>
                  <a:srgbClr val="000000"/>
                </a:solidFill>
                <a:latin typeface="Times New Roman" panose="02020603050405020304" pitchFamily="18" charset="0"/>
              </a:rPr>
              <a:t>Restrictions</a:t>
            </a:r>
          </a:p>
          <a:p>
            <a:pPr marL="342900" indent="-342900">
              <a:buFont typeface="+mj-lt"/>
              <a:buAutoNum type="arabicPeriod"/>
            </a:pPr>
            <a:r>
              <a:rPr lang="en-US" sz="1800" b="0" i="0" u="none" strike="noStrike" baseline="0" dirty="0" err="1">
                <a:solidFill>
                  <a:srgbClr val="000000"/>
                </a:solidFill>
                <a:latin typeface="Times New Roman" panose="02020603050405020304" pitchFamily="18" charset="0"/>
              </a:rPr>
              <a:t>Am,v,f</a:t>
            </a:r>
            <a:r>
              <a:rPr lang="en-US" sz="1800" b="0" i="0" u="none" strike="noStrike" baseline="0" dirty="0">
                <a:solidFill>
                  <a:srgbClr val="000000"/>
                </a:solidFill>
                <a:latin typeface="Times New Roman" panose="02020603050405020304" pitchFamily="18" charset="0"/>
              </a:rPr>
              <a:t> = (Amount sold)</a:t>
            </a:r>
            <a:r>
              <a:rPr lang="en-US" sz="1800" b="0" i="0" u="none" strike="noStrike" baseline="0" dirty="0" err="1">
                <a:solidFill>
                  <a:srgbClr val="000000"/>
                </a:solidFill>
                <a:latin typeface="Times New Roman" panose="02020603050405020304" pitchFamily="18" charset="0"/>
              </a:rPr>
              <a:t>v,f</a:t>
            </a:r>
            <a:r>
              <a:rPr lang="en-US" sz="1800" b="0" i="0" u="none" strike="noStrike" baseline="0" dirty="0">
                <a:solidFill>
                  <a:srgbClr val="000000"/>
                </a:solidFill>
                <a:latin typeface="Times New Roman" panose="02020603050405020304" pitchFamily="18" charset="0"/>
              </a:rPr>
              <a:t> </a:t>
            </a:r>
            <a:r>
              <a:rPr lang="en-US" sz="1800" b="0" i="0" u="none" strike="noStrike" baseline="0" dirty="0">
                <a:solidFill>
                  <a:srgbClr val="000000"/>
                </a:solidFill>
                <a:latin typeface="Cambria Math" panose="02040503050406030204" pitchFamily="18" charset="0"/>
              </a:rPr>
              <a:t>∀</a:t>
            </a:r>
            <a:r>
              <a:rPr lang="en-US" sz="1800" b="0" i="0" u="none" strike="noStrike" baseline="0" dirty="0" err="1">
                <a:solidFill>
                  <a:srgbClr val="000000"/>
                </a:solidFill>
                <a:latin typeface="Times New Roman" panose="02020603050405020304" pitchFamily="18" charset="0"/>
              </a:rPr>
              <a:t>v,m,f</a:t>
            </a:r>
            <a:r>
              <a:rPr lang="en-US" sz="1800" b="0" i="0" u="none" strike="noStrike" baseline="0" dirty="0">
                <a:solidFill>
                  <a:srgbClr val="000000"/>
                </a:solidFill>
                <a:latin typeface="Times New Roman" panose="02020603050405020304" pitchFamily="18" charset="0"/>
              </a:rPr>
              <a:t> </a:t>
            </a:r>
          </a:p>
          <a:p>
            <a:pPr marL="342900" indent="-342900">
              <a:buFont typeface="+mj-lt"/>
              <a:buAutoNum type="arabicPeriod"/>
            </a:pPr>
            <a:r>
              <a:rPr lang="en-US" sz="1800" b="0" i="0" u="none" strike="noStrike" baseline="0" dirty="0" err="1">
                <a:solidFill>
                  <a:srgbClr val="000000"/>
                </a:solidFill>
                <a:latin typeface="Times New Roman" panose="02020603050405020304" pitchFamily="18" charset="0"/>
              </a:rPr>
              <a:t>Ag,w,c</a:t>
            </a:r>
            <a:r>
              <a:rPr lang="en-US" sz="1800" b="0" i="0" u="none" strike="noStrike" baseline="0" dirty="0">
                <a:solidFill>
                  <a:srgbClr val="000000"/>
                </a:solidFill>
                <a:latin typeface="Times New Roman" panose="02020603050405020304" pitchFamily="18" charset="0"/>
              </a:rPr>
              <a:t> = (Amount sold)</a:t>
            </a:r>
            <a:r>
              <a:rPr lang="en-US" sz="1800" b="0" i="0" u="none" strike="noStrike" baseline="0" dirty="0" err="1">
                <a:solidFill>
                  <a:srgbClr val="000000"/>
                </a:solidFill>
                <a:latin typeface="Times New Roman" panose="02020603050405020304" pitchFamily="18" charset="0"/>
              </a:rPr>
              <a:t>g,c</a:t>
            </a:r>
            <a:r>
              <a:rPr lang="en-US" sz="1800" b="0" i="0" u="none" strike="noStrike" baseline="0" dirty="0">
                <a:solidFill>
                  <a:srgbClr val="000000"/>
                </a:solidFill>
                <a:latin typeface="Times New Roman" panose="02020603050405020304" pitchFamily="18" charset="0"/>
              </a:rPr>
              <a:t> </a:t>
            </a:r>
            <a:r>
              <a:rPr lang="en-US" sz="1800" b="0" i="0" u="none" strike="noStrike" baseline="0" dirty="0">
                <a:solidFill>
                  <a:srgbClr val="000000"/>
                </a:solidFill>
                <a:latin typeface="Cambria Math" panose="02040503050406030204" pitchFamily="18" charset="0"/>
              </a:rPr>
              <a:t>∀</a:t>
            </a:r>
            <a:r>
              <a:rPr lang="en-US" sz="1800" b="0" i="0" u="none" strike="noStrike" baseline="0" dirty="0" err="1">
                <a:solidFill>
                  <a:srgbClr val="000000"/>
                </a:solidFill>
                <a:latin typeface="Times New Roman" panose="02020603050405020304" pitchFamily="18" charset="0"/>
              </a:rPr>
              <a:t>w,c,g</a:t>
            </a:r>
            <a:r>
              <a:rPr lang="en-US" sz="1800" b="0" i="0" u="none" strike="noStrike" baseline="0" dirty="0">
                <a:solidFill>
                  <a:srgbClr val="000000"/>
                </a:solidFill>
                <a:latin typeface="Times New Roman" panose="02020603050405020304" pitchFamily="18" charset="0"/>
              </a:rPr>
              <a:t> </a:t>
            </a:r>
            <a:endParaRPr lang="en-IN" sz="1800" b="0" i="0" u="none" strike="noStrike" baseline="0" dirty="0">
              <a:solidFill>
                <a:srgbClr val="000000"/>
              </a:solidFill>
              <a:latin typeface="Times New Roman" panose="02020603050405020304" pitchFamily="18" charset="0"/>
            </a:endParaRPr>
          </a:p>
          <a:p>
            <a:pPr algn="just"/>
            <a:endParaRPr lang="en-IN" sz="1800" b="0" i="0" u="none" strike="noStrike" baseline="0" dirty="0">
              <a:solidFill>
                <a:srgbClr val="000000"/>
              </a:solidFill>
              <a:latin typeface="Times New Roman" panose="02020603050405020304" pitchFamily="18" charset="0"/>
            </a:endParaRPr>
          </a:p>
          <a:p>
            <a:pPr algn="just"/>
            <a:endParaRPr lang="en-IN" b="1" dirty="0"/>
          </a:p>
        </p:txBody>
      </p:sp>
    </p:spTree>
    <p:extLst>
      <p:ext uri="{BB962C8B-B14F-4D97-AF65-F5344CB8AC3E}">
        <p14:creationId xmlns:p14="http://schemas.microsoft.com/office/powerpoint/2010/main" val="746142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508A7-1717-B955-7E36-1B1537F7F291}"/>
              </a:ext>
            </a:extLst>
          </p:cNvPr>
          <p:cNvSpPr>
            <a:spLocks noGrp="1"/>
          </p:cNvSpPr>
          <p:nvPr>
            <p:ph type="title"/>
          </p:nvPr>
        </p:nvSpPr>
        <p:spPr>
          <a:xfrm>
            <a:off x="-1820734" y="5551715"/>
            <a:ext cx="9982200" cy="914400"/>
          </a:xfrm>
        </p:spPr>
        <p:txBody>
          <a:bodyPr>
            <a:normAutofit/>
          </a:bodyPr>
          <a:lstStyle/>
          <a:p>
            <a:pPr algn="ctr"/>
            <a:r>
              <a:rPr lang="en-IN" sz="4000" b="1" dirty="0">
                <a:latin typeface="Times New Roman" panose="02020603050405020304" pitchFamily="18" charset="0"/>
                <a:cs typeface="Times New Roman" panose="02020603050405020304" pitchFamily="18" charset="0"/>
              </a:rPr>
              <a:t>Network Model</a:t>
            </a:r>
          </a:p>
        </p:txBody>
      </p:sp>
      <p:sp>
        <p:nvSpPr>
          <p:cNvPr id="10" name="Picture Placeholder 9">
            <a:extLst>
              <a:ext uri="{FF2B5EF4-FFF2-40B4-BE49-F238E27FC236}">
                <a16:creationId xmlns:a16="http://schemas.microsoft.com/office/drawing/2014/main" id="{666EBFB9-1024-3DBD-F7E2-2E4A9E922682}"/>
              </a:ext>
            </a:extLst>
          </p:cNvPr>
          <p:cNvSpPr>
            <a:spLocks noGrp="1"/>
          </p:cNvSpPr>
          <p:nvPr>
            <p:ph type="pic" idx="1"/>
          </p:nvPr>
        </p:nvSpPr>
        <p:spPr/>
      </p:sp>
      <p:pic>
        <p:nvPicPr>
          <p:cNvPr id="11" name="Picture 10">
            <a:extLst>
              <a:ext uri="{FF2B5EF4-FFF2-40B4-BE49-F238E27FC236}">
                <a16:creationId xmlns:a16="http://schemas.microsoft.com/office/drawing/2014/main" id="{238E0814-5D7E-6510-3FB2-BB4C9D94C5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5758544"/>
          </a:xfrm>
          <a:prstGeom prst="rect">
            <a:avLst/>
          </a:prstGeom>
        </p:spPr>
      </p:pic>
    </p:spTree>
    <p:extLst>
      <p:ext uri="{BB962C8B-B14F-4D97-AF65-F5344CB8AC3E}">
        <p14:creationId xmlns:p14="http://schemas.microsoft.com/office/powerpoint/2010/main" val="51879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EA9FC-DB24-0C54-C398-9CB91259EDC7}"/>
              </a:ext>
            </a:extLst>
          </p:cNvPr>
          <p:cNvSpPr>
            <a:spLocks noGrp="1"/>
          </p:cNvSpPr>
          <p:nvPr>
            <p:ph type="title"/>
          </p:nvPr>
        </p:nvSpPr>
        <p:spPr>
          <a:xfrm>
            <a:off x="1144069" y="646100"/>
            <a:ext cx="2793158" cy="1600200"/>
          </a:xfrm>
        </p:spPr>
        <p:txBody>
          <a:bodyPr>
            <a:normAutofit/>
          </a:bodyPr>
          <a:lstStyle/>
          <a:p>
            <a:pPr algn="just"/>
            <a:r>
              <a:rPr lang="en-IN" sz="4000" b="1" dirty="0">
                <a:latin typeface="Times New Roman" panose="02020603050405020304" pitchFamily="18" charset="0"/>
                <a:cs typeface="Times New Roman" panose="02020603050405020304" pitchFamily="18" charset="0"/>
              </a:rPr>
              <a:t>Differential Evolution</a:t>
            </a:r>
          </a:p>
        </p:txBody>
      </p:sp>
      <p:pic>
        <p:nvPicPr>
          <p:cNvPr id="5" name="Content Placeholder 4">
            <a:extLst>
              <a:ext uri="{FF2B5EF4-FFF2-40B4-BE49-F238E27FC236}">
                <a16:creationId xmlns:a16="http://schemas.microsoft.com/office/drawing/2014/main" id="{74915F8F-B316-AC89-B0F0-3DE48ED99AA2}"/>
              </a:ext>
            </a:extLst>
          </p:cNvPr>
          <p:cNvPicPr>
            <a:picLocks noGrp="1" noChangeAspect="1"/>
          </p:cNvPicPr>
          <p:nvPr>
            <p:ph idx="1"/>
          </p:nvPr>
        </p:nvPicPr>
        <p:blipFill>
          <a:blip r:embed="rId2"/>
          <a:stretch>
            <a:fillRect/>
          </a:stretch>
        </p:blipFill>
        <p:spPr>
          <a:xfrm>
            <a:off x="5781675" y="1776751"/>
            <a:ext cx="5189538" cy="3914098"/>
          </a:xfrm>
          <a:prstGeom prst="rect">
            <a:avLst/>
          </a:prstGeom>
        </p:spPr>
      </p:pic>
      <p:sp>
        <p:nvSpPr>
          <p:cNvPr id="4" name="Text Placeholder 3">
            <a:extLst>
              <a:ext uri="{FF2B5EF4-FFF2-40B4-BE49-F238E27FC236}">
                <a16:creationId xmlns:a16="http://schemas.microsoft.com/office/drawing/2014/main" id="{8B5256D5-5896-A5A1-0114-4A4AEC1586A8}"/>
              </a:ext>
            </a:extLst>
          </p:cNvPr>
          <p:cNvSpPr>
            <a:spLocks noGrp="1"/>
          </p:cNvSpPr>
          <p:nvPr>
            <p:ph type="body" sz="half" idx="2"/>
          </p:nvPr>
        </p:nvSpPr>
        <p:spPr>
          <a:xfrm>
            <a:off x="841248" y="2246300"/>
            <a:ext cx="3200400" cy="3810001"/>
          </a:xfrm>
        </p:spPr>
        <p:txBody>
          <a:bodyPr>
            <a:normAutofit/>
          </a:bodyPr>
          <a:lstStyle/>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Population based meta heuristic search algorithm.</a:t>
            </a: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Optimization done on an iterative basis.</a:t>
            </a: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DE does not make any assumptions about the underlying data.</a:t>
            </a:r>
          </a:p>
          <a:p>
            <a:pPr marL="285750"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Can explore the entire data very speedily.</a:t>
            </a:r>
          </a:p>
        </p:txBody>
      </p:sp>
    </p:spTree>
    <p:extLst>
      <p:ext uri="{BB962C8B-B14F-4D97-AF65-F5344CB8AC3E}">
        <p14:creationId xmlns:p14="http://schemas.microsoft.com/office/powerpoint/2010/main" val="1702239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97BDF-D009-5BB9-2E68-6CE11AEC964B}"/>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Differential Evolution Working</a:t>
            </a:r>
          </a:p>
        </p:txBody>
      </p:sp>
      <p:sp>
        <p:nvSpPr>
          <p:cNvPr id="3" name="Content Placeholder 2">
            <a:extLst>
              <a:ext uri="{FF2B5EF4-FFF2-40B4-BE49-F238E27FC236}">
                <a16:creationId xmlns:a16="http://schemas.microsoft.com/office/drawing/2014/main" id="{FAE3A0A1-79B9-9296-78D1-0942857CD4D3}"/>
              </a:ext>
            </a:extLst>
          </p:cNvPr>
          <p:cNvSpPr>
            <a:spLocks noGrp="1"/>
          </p:cNvSpPr>
          <p:nvPr>
            <p:ph idx="1"/>
          </p:nvPr>
        </p:nvSpPr>
        <p:spPr/>
        <p:txBody>
          <a:bodyPr>
            <a:normAutofit lnSpcReduction="10000"/>
          </a:bodyPr>
          <a:lstStyle/>
          <a:p>
            <a:pPr marL="0" indent="0" algn="just">
              <a:buNone/>
            </a:pPr>
            <a:r>
              <a:rPr lang="en-US" sz="1800" b="1" i="0" u="none" strike="noStrike" baseline="0" dirty="0">
                <a:solidFill>
                  <a:srgbClr val="000000"/>
                </a:solidFill>
                <a:latin typeface="Times New Roman" panose="02020603050405020304" pitchFamily="18" charset="0"/>
              </a:rPr>
              <a:t>Step 1</a:t>
            </a:r>
            <a:r>
              <a:rPr lang="en-US" sz="1800" b="0" i="0" u="none" strike="noStrike" baseline="0" dirty="0">
                <a:solidFill>
                  <a:srgbClr val="000000"/>
                </a:solidFill>
                <a:latin typeface="Times New Roman" panose="02020603050405020304" pitchFamily="18" charset="0"/>
              </a:rPr>
              <a:t>: Initialize the algorithm to G = 0, where G is the total number of iterations.</a:t>
            </a:r>
            <a:endParaRPr lang="en-IN" sz="1800" b="0" i="0" u="none" strike="noStrike" baseline="0" dirty="0">
              <a:latin typeface="Times New Roman" panose="02020603050405020304" pitchFamily="18" charset="0"/>
            </a:endParaRPr>
          </a:p>
          <a:p>
            <a:pPr marL="0" indent="0" algn="just">
              <a:buNone/>
            </a:pPr>
            <a:r>
              <a:rPr lang="en-US" sz="1800" b="1" i="0" u="none" strike="noStrike" baseline="0" dirty="0">
                <a:latin typeface="Times New Roman" panose="02020603050405020304" pitchFamily="18" charset="0"/>
              </a:rPr>
              <a:t>Step 2</a:t>
            </a:r>
            <a:r>
              <a:rPr lang="en-US" sz="1800" b="0" i="0" u="none" strike="noStrike" baseline="0" dirty="0">
                <a:latin typeface="Times New Roman" panose="02020603050405020304" pitchFamily="18" charset="0"/>
              </a:rPr>
              <a:t>: Generate 3 random individuals from the initial population, such that they are distinct and not equal to one another. </a:t>
            </a:r>
          </a:p>
          <a:p>
            <a:pPr marL="0" indent="0" algn="just">
              <a:buNone/>
            </a:pPr>
            <a:r>
              <a:rPr lang="en-US" sz="1800" b="1" i="0" u="none" strike="noStrike" baseline="0" dirty="0">
                <a:latin typeface="Times New Roman" panose="02020603050405020304" pitchFamily="18" charset="0"/>
              </a:rPr>
              <a:t>Step 3</a:t>
            </a:r>
            <a:r>
              <a:rPr lang="en-US" sz="1800" b="0" i="0" u="none" strike="noStrike" baseline="0" dirty="0">
                <a:latin typeface="Times New Roman" panose="02020603050405020304" pitchFamily="18" charset="0"/>
              </a:rPr>
              <a:t>: Next, form the donor vector using these individuals using the mutation function. </a:t>
            </a:r>
          </a:p>
          <a:p>
            <a:pPr marL="0" indent="0" algn="just">
              <a:buNone/>
            </a:pPr>
            <a:r>
              <a:rPr lang="en-US" sz="1800" b="1" i="0" u="none" strike="noStrike" baseline="0" dirty="0">
                <a:latin typeface="Times New Roman" panose="02020603050405020304" pitchFamily="18" charset="0"/>
              </a:rPr>
              <a:t>Step 4</a:t>
            </a:r>
            <a:r>
              <a:rPr lang="en-US" sz="1800" b="0" i="0" u="none" strike="noStrike" baseline="0" dirty="0">
                <a:latin typeface="Times New Roman" panose="02020603050405020304" pitchFamily="18" charset="0"/>
              </a:rPr>
              <a:t>: Perform crossover. This is done by developing a trial vector which is formed such that, if the index of the donor vector is less than or equal to the crossover probability then choose the donor vector. Else choose the original individual. </a:t>
            </a:r>
          </a:p>
          <a:p>
            <a:pPr marL="0" indent="0" algn="just">
              <a:buNone/>
            </a:pPr>
            <a:r>
              <a:rPr lang="en-US" sz="1800" b="1" i="0" u="none" strike="noStrike" baseline="0" dirty="0">
                <a:latin typeface="Times New Roman" panose="02020603050405020304" pitchFamily="18" charset="0"/>
              </a:rPr>
              <a:t>Step 5</a:t>
            </a:r>
            <a:r>
              <a:rPr lang="en-US" sz="1800" b="0" i="0" u="none" strike="noStrike" baseline="0" dirty="0">
                <a:latin typeface="Times New Roman" panose="02020603050405020304" pitchFamily="18" charset="0"/>
              </a:rPr>
              <a:t>: Evaluate if the objective value of the trial vector is less than or equal to the objective value of the individual. If so then replace the individual with the trial vector, else keep it. </a:t>
            </a:r>
          </a:p>
          <a:p>
            <a:pPr marL="0" indent="0" algn="just">
              <a:buNone/>
            </a:pPr>
            <a:r>
              <a:rPr lang="en-US" sz="1800" b="1" i="0" u="none" strike="noStrike" baseline="0" dirty="0">
                <a:latin typeface="Times New Roman" panose="02020603050405020304" pitchFamily="18" charset="0"/>
              </a:rPr>
              <a:t>Step 6</a:t>
            </a:r>
            <a:r>
              <a:rPr lang="en-US" sz="1800" b="0" i="0" u="none" strike="noStrike" baseline="0" dirty="0">
                <a:latin typeface="Times New Roman" panose="02020603050405020304" pitchFamily="18" charset="0"/>
              </a:rPr>
              <a:t>: Check if the stopping criterion has been met. If met then stop, else go to step 2. </a:t>
            </a:r>
            <a:endParaRPr lang="en-IN" dirty="0"/>
          </a:p>
        </p:txBody>
      </p:sp>
    </p:spTree>
    <p:extLst>
      <p:ext uri="{BB962C8B-B14F-4D97-AF65-F5344CB8AC3E}">
        <p14:creationId xmlns:p14="http://schemas.microsoft.com/office/powerpoint/2010/main" val="2495274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14375-400A-1007-24AC-1CC2C62B3E14}"/>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System Implementation</a:t>
            </a:r>
          </a:p>
        </p:txBody>
      </p:sp>
      <p:sp>
        <p:nvSpPr>
          <p:cNvPr id="3" name="Content Placeholder 2">
            <a:extLst>
              <a:ext uri="{FF2B5EF4-FFF2-40B4-BE49-F238E27FC236}">
                <a16:creationId xmlns:a16="http://schemas.microsoft.com/office/drawing/2014/main" id="{7AA532C8-449E-59D7-80C9-0D481121CC3B}"/>
              </a:ext>
            </a:extLst>
          </p:cNvPr>
          <p:cNvSpPr>
            <a:spLocks noGrp="1"/>
          </p:cNvSpPr>
          <p:nvPr>
            <p:ph idx="1"/>
          </p:nvPr>
        </p:nvSpPr>
        <p:spPr/>
        <p:txBody>
          <a:bodyPr/>
          <a:lstStyle/>
          <a:p>
            <a:r>
              <a:rPr lang="en-IN" b="1" dirty="0">
                <a:latin typeface="Times New Roman" panose="02020603050405020304" pitchFamily="18" charset="0"/>
                <a:cs typeface="Times New Roman" panose="02020603050405020304" pitchFamily="18" charset="0"/>
              </a:rPr>
              <a:t>Using the </a:t>
            </a:r>
            <a:r>
              <a:rPr lang="en-IN" b="1" dirty="0" err="1">
                <a:latin typeface="Times New Roman" panose="02020603050405020304" pitchFamily="18" charset="0"/>
                <a:cs typeface="Times New Roman" panose="02020603050405020304" pitchFamily="18" charset="0"/>
              </a:rPr>
              <a:t>Rosenbrock</a:t>
            </a:r>
            <a:r>
              <a:rPr lang="en-IN" b="1" dirty="0">
                <a:latin typeface="Times New Roman" panose="02020603050405020304" pitchFamily="18" charset="0"/>
                <a:cs typeface="Times New Roman" panose="02020603050405020304" pitchFamily="18" charset="0"/>
              </a:rPr>
              <a:t> Function</a:t>
            </a:r>
          </a:p>
          <a:p>
            <a:pPr marL="0" indent="0">
              <a:buNone/>
            </a:pPr>
            <a:r>
              <a:rPr lang="en-IN" dirty="0">
                <a:latin typeface="Times New Roman" panose="02020603050405020304" pitchFamily="18" charset="0"/>
                <a:cs typeface="Times New Roman" panose="02020603050405020304" pitchFamily="18" charset="0"/>
              </a:rPr>
              <a:t>The </a:t>
            </a:r>
            <a:r>
              <a:rPr lang="en-IN" dirty="0" err="1">
                <a:latin typeface="Times New Roman" panose="02020603050405020304" pitchFamily="18" charset="0"/>
                <a:cs typeface="Times New Roman" panose="02020603050405020304" pitchFamily="18" charset="0"/>
              </a:rPr>
              <a:t>Rosenbrock</a:t>
            </a:r>
            <a:r>
              <a:rPr lang="en-IN" dirty="0">
                <a:latin typeface="Times New Roman" panose="02020603050405020304" pitchFamily="18" charset="0"/>
                <a:cs typeface="Times New Roman" panose="02020603050405020304" pitchFamily="18" charset="0"/>
              </a:rPr>
              <a:t> Function is a unimodal function which is popularly used for testing optimization algorithms such as DE. It is also known as the Banana Function. It is given as:</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GB" sz="1800" b="1" dirty="0">
                <a:effectLst/>
                <a:latin typeface="Times New Roman" panose="02020603050405020304" pitchFamily="18" charset="0"/>
                <a:ea typeface="Times New Roman" panose="02020603050405020304" pitchFamily="18" charset="0"/>
              </a:rPr>
              <a:t>F(x) = ∑</a:t>
            </a:r>
            <a:r>
              <a:rPr lang="en-GB" sz="1800" b="1" baseline="-25000" dirty="0" err="1">
                <a:effectLst/>
                <a:latin typeface="Times New Roman" panose="02020603050405020304" pitchFamily="18" charset="0"/>
                <a:ea typeface="Times New Roman" panose="02020603050405020304" pitchFamily="18" charset="0"/>
              </a:rPr>
              <a:t>i</a:t>
            </a:r>
            <a:r>
              <a:rPr lang="en-GB" sz="1800" b="1" baseline="-25000" dirty="0">
                <a:effectLst/>
                <a:latin typeface="Times New Roman" panose="02020603050405020304" pitchFamily="18" charset="0"/>
                <a:ea typeface="Times New Roman" panose="02020603050405020304" pitchFamily="18" charset="0"/>
              </a:rPr>
              <a:t> = 1</a:t>
            </a:r>
            <a:r>
              <a:rPr lang="en-GB" sz="1800" b="1" baseline="30000" dirty="0">
                <a:effectLst/>
                <a:latin typeface="Times New Roman" panose="02020603050405020304" pitchFamily="18" charset="0"/>
                <a:ea typeface="Times New Roman" panose="02020603050405020304" pitchFamily="18" charset="0"/>
              </a:rPr>
              <a:t>d-1 </a:t>
            </a:r>
            <a:r>
              <a:rPr lang="en-GB" sz="1800" b="1" dirty="0">
                <a:effectLst/>
                <a:latin typeface="Times New Roman" panose="02020603050405020304" pitchFamily="18" charset="0"/>
                <a:ea typeface="Times New Roman" panose="02020603050405020304" pitchFamily="18" charset="0"/>
              </a:rPr>
              <a:t>[100(x</a:t>
            </a:r>
            <a:r>
              <a:rPr lang="en-GB" sz="1800" b="1" baseline="-25000" dirty="0">
                <a:effectLst/>
                <a:latin typeface="Times New Roman" panose="02020603050405020304" pitchFamily="18" charset="0"/>
                <a:ea typeface="Times New Roman" panose="02020603050405020304" pitchFamily="18" charset="0"/>
              </a:rPr>
              <a:t>i+1</a:t>
            </a:r>
            <a:r>
              <a:rPr lang="en-GB" sz="1800" b="1" dirty="0">
                <a:effectLst/>
                <a:latin typeface="Times New Roman" panose="02020603050405020304" pitchFamily="18" charset="0"/>
                <a:ea typeface="Times New Roman" panose="02020603050405020304" pitchFamily="18" charset="0"/>
              </a:rPr>
              <a:t> – x</a:t>
            </a:r>
            <a:r>
              <a:rPr lang="en-GB" sz="1800" b="1" baseline="-25000" dirty="0">
                <a:effectLst/>
                <a:latin typeface="Times New Roman" panose="02020603050405020304" pitchFamily="18" charset="0"/>
                <a:ea typeface="Times New Roman" panose="02020603050405020304" pitchFamily="18" charset="0"/>
              </a:rPr>
              <a:t>i</a:t>
            </a:r>
            <a:r>
              <a:rPr lang="en-GB" sz="1800" b="1" baseline="30000" dirty="0">
                <a:effectLst/>
                <a:latin typeface="Times New Roman" panose="02020603050405020304" pitchFamily="18" charset="0"/>
                <a:ea typeface="Times New Roman" panose="02020603050405020304" pitchFamily="18" charset="0"/>
              </a:rPr>
              <a:t>2</a:t>
            </a:r>
            <a:r>
              <a:rPr lang="en-GB" sz="1800" b="1" dirty="0">
                <a:effectLst/>
                <a:latin typeface="Times New Roman" panose="02020603050405020304" pitchFamily="18" charset="0"/>
                <a:ea typeface="Times New Roman" panose="02020603050405020304" pitchFamily="18" charset="0"/>
              </a:rPr>
              <a:t>)</a:t>
            </a:r>
            <a:r>
              <a:rPr lang="en-GB" sz="1800" b="1" baseline="30000" dirty="0">
                <a:effectLst/>
                <a:latin typeface="Times New Roman" panose="02020603050405020304" pitchFamily="18" charset="0"/>
                <a:ea typeface="Times New Roman" panose="02020603050405020304" pitchFamily="18" charset="0"/>
              </a:rPr>
              <a:t>2</a:t>
            </a:r>
            <a:r>
              <a:rPr lang="en-GB" sz="1800" b="1" dirty="0">
                <a:effectLst/>
                <a:latin typeface="Times New Roman" panose="02020603050405020304" pitchFamily="18" charset="0"/>
                <a:ea typeface="Times New Roman" panose="02020603050405020304" pitchFamily="18" charset="0"/>
              </a:rPr>
              <a:t> + (x</a:t>
            </a:r>
            <a:r>
              <a:rPr lang="en-GB" sz="1800" b="1" baseline="-25000" dirty="0">
                <a:effectLst/>
                <a:latin typeface="Times New Roman" panose="02020603050405020304" pitchFamily="18" charset="0"/>
                <a:ea typeface="Times New Roman" panose="02020603050405020304" pitchFamily="18" charset="0"/>
              </a:rPr>
              <a:t>i</a:t>
            </a:r>
            <a:r>
              <a:rPr lang="en-GB" sz="1800" b="1" dirty="0">
                <a:effectLst/>
                <a:latin typeface="Times New Roman" panose="02020603050405020304" pitchFamily="18" charset="0"/>
                <a:ea typeface="Times New Roman" panose="02020603050405020304" pitchFamily="18" charset="0"/>
              </a:rPr>
              <a:t> – 1)</a:t>
            </a:r>
            <a:r>
              <a:rPr lang="en-GB" sz="1800" b="1" baseline="30000" dirty="0">
                <a:effectLst/>
                <a:latin typeface="Times New Roman" panose="02020603050405020304" pitchFamily="18" charset="0"/>
                <a:ea typeface="Times New Roman" panose="02020603050405020304" pitchFamily="18" charset="0"/>
              </a:rPr>
              <a:t>2</a:t>
            </a:r>
            <a:r>
              <a:rPr lang="en-GB" sz="1800" b="1" dirty="0">
                <a:effectLst/>
                <a:latin typeface="Times New Roman" panose="02020603050405020304" pitchFamily="18" charset="0"/>
                <a:ea typeface="Times New Roman" panose="02020603050405020304" pitchFamily="18" charset="0"/>
              </a:rPr>
              <a:t>]</a:t>
            </a:r>
          </a:p>
          <a:p>
            <a:pPr marL="0" indent="0">
              <a:buNone/>
            </a:pPr>
            <a:endParaRPr lang="en-IN" sz="1800" dirty="0">
              <a:effectLst/>
              <a:latin typeface="Times New Roman" panose="02020603050405020304" pitchFamily="18" charset="0"/>
              <a:ea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0A8FAD5-36C1-F51D-7B24-9028155F911B}"/>
              </a:ext>
            </a:extLst>
          </p:cNvPr>
          <p:cNvPicPr>
            <a:picLocks noChangeAspect="1"/>
          </p:cNvPicPr>
          <p:nvPr/>
        </p:nvPicPr>
        <p:blipFill>
          <a:blip r:embed="rId2"/>
          <a:stretch>
            <a:fillRect/>
          </a:stretch>
        </p:blipFill>
        <p:spPr>
          <a:xfrm>
            <a:off x="6142190" y="3703614"/>
            <a:ext cx="3774177" cy="3038997"/>
          </a:xfrm>
          <a:prstGeom prst="rect">
            <a:avLst/>
          </a:prstGeom>
        </p:spPr>
      </p:pic>
    </p:spTree>
    <p:extLst>
      <p:ext uri="{BB962C8B-B14F-4D97-AF65-F5344CB8AC3E}">
        <p14:creationId xmlns:p14="http://schemas.microsoft.com/office/powerpoint/2010/main" val="3100082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14375-400A-1007-24AC-1CC2C62B3E14}"/>
              </a:ext>
            </a:extLst>
          </p:cNvPr>
          <p:cNvSpPr>
            <a:spLocks noGrp="1"/>
          </p:cNvSpPr>
          <p:nvPr>
            <p:ph type="title"/>
          </p:nvPr>
        </p:nvSpPr>
        <p:spPr>
          <a:xfrm>
            <a:off x="-1820734" y="2884714"/>
            <a:ext cx="9982200" cy="914400"/>
          </a:xfrm>
        </p:spPr>
        <p:txBody>
          <a:bodyPr>
            <a:noAutofit/>
          </a:bodyPr>
          <a:lstStyle/>
          <a:p>
            <a:pPr algn="ctr"/>
            <a:r>
              <a:rPr lang="en-IN" sz="4000" b="1" dirty="0">
                <a:latin typeface="Times New Roman" panose="02020603050405020304" pitchFamily="18" charset="0"/>
                <a:cs typeface="Times New Roman" panose="02020603050405020304" pitchFamily="18" charset="0"/>
              </a:rPr>
              <a:t>System Implementation </a:t>
            </a:r>
            <a:br>
              <a:rPr lang="en-IN" sz="4000" b="1" dirty="0">
                <a:latin typeface="Times New Roman" panose="02020603050405020304" pitchFamily="18" charset="0"/>
                <a:cs typeface="Times New Roman" panose="02020603050405020304" pitchFamily="18" charset="0"/>
              </a:rPr>
            </a:br>
            <a:r>
              <a:rPr lang="en-IN" sz="4000" b="1" dirty="0">
                <a:latin typeface="Times New Roman" panose="02020603050405020304" pitchFamily="18" charset="0"/>
                <a:cs typeface="Times New Roman" panose="02020603050405020304" pitchFamily="18" charset="0"/>
              </a:rPr>
              <a:t>using the </a:t>
            </a:r>
            <a:br>
              <a:rPr lang="en-IN" sz="4000" b="1" dirty="0">
                <a:latin typeface="Times New Roman" panose="02020603050405020304" pitchFamily="18" charset="0"/>
                <a:cs typeface="Times New Roman" panose="02020603050405020304" pitchFamily="18" charset="0"/>
              </a:rPr>
            </a:br>
            <a:r>
              <a:rPr lang="en-IN" sz="4000" b="1" dirty="0" err="1">
                <a:latin typeface="Times New Roman" panose="02020603050405020304" pitchFamily="18" charset="0"/>
                <a:cs typeface="Times New Roman" panose="02020603050405020304" pitchFamily="18" charset="0"/>
              </a:rPr>
              <a:t>Rosenbrock</a:t>
            </a:r>
            <a:r>
              <a:rPr lang="en-IN" sz="4000" b="1" dirty="0">
                <a:latin typeface="Times New Roman" panose="02020603050405020304" pitchFamily="18" charset="0"/>
                <a:cs typeface="Times New Roman" panose="02020603050405020304" pitchFamily="18" charset="0"/>
              </a:rPr>
              <a:t> Function</a:t>
            </a:r>
          </a:p>
        </p:txBody>
      </p:sp>
      <p:sp>
        <p:nvSpPr>
          <p:cNvPr id="9" name="Text Placeholder 6">
            <a:extLst>
              <a:ext uri="{FF2B5EF4-FFF2-40B4-BE49-F238E27FC236}">
                <a16:creationId xmlns:a16="http://schemas.microsoft.com/office/drawing/2014/main" id="{59B35420-4536-4868-694F-992C401D8ED3}"/>
              </a:ext>
            </a:extLst>
          </p:cNvPr>
          <p:cNvSpPr>
            <a:spLocks noGrp="1"/>
          </p:cNvSpPr>
          <p:nvPr>
            <p:ph type="pic" idx="1"/>
          </p:nvPr>
        </p:nvSpPr>
        <p:spPr/>
      </p:sp>
      <p:pic>
        <p:nvPicPr>
          <p:cNvPr id="10" name="Picture 9">
            <a:extLst>
              <a:ext uri="{FF2B5EF4-FFF2-40B4-BE49-F238E27FC236}">
                <a16:creationId xmlns:a16="http://schemas.microsoft.com/office/drawing/2014/main" id="{4CE97E54-61B8-F141-E029-FF5C502587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6187" y="1295400"/>
            <a:ext cx="5584156" cy="4495800"/>
          </a:xfrm>
          <a:prstGeom prst="rect">
            <a:avLst/>
          </a:prstGeom>
        </p:spPr>
      </p:pic>
    </p:spTree>
    <p:extLst>
      <p:ext uri="{BB962C8B-B14F-4D97-AF65-F5344CB8AC3E}">
        <p14:creationId xmlns:p14="http://schemas.microsoft.com/office/powerpoint/2010/main" val="2289779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4558-8EA7-714F-8FF5-69026A26294F}"/>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System Implementation</a:t>
            </a:r>
          </a:p>
        </p:txBody>
      </p:sp>
      <p:sp>
        <p:nvSpPr>
          <p:cNvPr id="3" name="Text Placeholder 2">
            <a:extLst>
              <a:ext uri="{FF2B5EF4-FFF2-40B4-BE49-F238E27FC236}">
                <a16:creationId xmlns:a16="http://schemas.microsoft.com/office/drawing/2014/main" id="{01BF19BC-F5E3-78BA-B31E-E36BC203F1B1}"/>
              </a:ext>
            </a:extLst>
          </p:cNvPr>
          <p:cNvSpPr>
            <a:spLocks noGrp="1"/>
          </p:cNvSpPr>
          <p:nvPr>
            <p:ph type="body" idx="1"/>
          </p:nvPr>
        </p:nvSpPr>
        <p:spPr>
          <a:xfrm>
            <a:off x="960123" y="2445175"/>
            <a:ext cx="4480560" cy="731520"/>
          </a:xfrm>
        </p:spPr>
        <p:txBody>
          <a:bodyPr/>
          <a:lstStyle/>
          <a:p>
            <a:r>
              <a:rPr lang="en-IN" dirty="0">
                <a:latin typeface="Times New Roman" panose="02020603050405020304" pitchFamily="18" charset="0"/>
                <a:cs typeface="Times New Roman" panose="02020603050405020304" pitchFamily="18" charset="0"/>
              </a:rPr>
              <a:t>Excluding Inventory Cost</a:t>
            </a:r>
          </a:p>
        </p:txBody>
      </p:sp>
      <p:pic>
        <p:nvPicPr>
          <p:cNvPr id="7" name="Content Placeholder 6">
            <a:extLst>
              <a:ext uri="{FF2B5EF4-FFF2-40B4-BE49-F238E27FC236}">
                <a16:creationId xmlns:a16="http://schemas.microsoft.com/office/drawing/2014/main" id="{5407A5CA-715A-14CB-1E2E-261189159433}"/>
              </a:ext>
            </a:extLst>
          </p:cNvPr>
          <p:cNvPicPr>
            <a:picLocks noGrp="1" noChangeAspect="1"/>
          </p:cNvPicPr>
          <p:nvPr>
            <p:ph sz="half" idx="2"/>
          </p:nvPr>
        </p:nvPicPr>
        <p:blipFill>
          <a:blip r:embed="rId2"/>
          <a:stretch>
            <a:fillRect/>
          </a:stretch>
        </p:blipFill>
        <p:spPr>
          <a:xfrm>
            <a:off x="552273" y="3470376"/>
            <a:ext cx="4888410" cy="1045048"/>
          </a:xfrm>
          <a:prstGeom prst="rect">
            <a:avLst/>
          </a:prstGeom>
        </p:spPr>
      </p:pic>
      <p:sp>
        <p:nvSpPr>
          <p:cNvPr id="5" name="Text Placeholder 4">
            <a:extLst>
              <a:ext uri="{FF2B5EF4-FFF2-40B4-BE49-F238E27FC236}">
                <a16:creationId xmlns:a16="http://schemas.microsoft.com/office/drawing/2014/main" id="{6C8ED9DE-E70A-AC34-DAB8-D1CE9AEBA723}"/>
              </a:ext>
            </a:extLst>
          </p:cNvPr>
          <p:cNvSpPr>
            <a:spLocks noGrp="1"/>
          </p:cNvSpPr>
          <p:nvPr>
            <p:ph type="body" sz="quarter" idx="3"/>
          </p:nvPr>
        </p:nvSpPr>
        <p:spPr>
          <a:xfrm>
            <a:off x="5984140" y="2445175"/>
            <a:ext cx="4480560" cy="731520"/>
          </a:xfrm>
        </p:spPr>
        <p:txBody>
          <a:bodyPr/>
          <a:lstStyle/>
          <a:p>
            <a:r>
              <a:rPr lang="en-IN" dirty="0">
                <a:latin typeface="Times New Roman" panose="02020603050405020304" pitchFamily="18" charset="0"/>
                <a:cs typeface="Times New Roman" panose="02020603050405020304" pitchFamily="18" charset="0"/>
              </a:rPr>
              <a:t>Including Inventory Cost</a:t>
            </a:r>
          </a:p>
        </p:txBody>
      </p:sp>
      <p:pic>
        <p:nvPicPr>
          <p:cNvPr id="8" name="Content Placeholder 7">
            <a:extLst>
              <a:ext uri="{FF2B5EF4-FFF2-40B4-BE49-F238E27FC236}">
                <a16:creationId xmlns:a16="http://schemas.microsoft.com/office/drawing/2014/main" id="{E81C6FE4-0DB1-AE24-E04D-2227369A29C1}"/>
              </a:ext>
            </a:extLst>
          </p:cNvPr>
          <p:cNvPicPr>
            <a:picLocks noGrp="1" noChangeAspect="1"/>
          </p:cNvPicPr>
          <p:nvPr>
            <p:ph sz="quarter" idx="4"/>
          </p:nvPr>
        </p:nvPicPr>
        <p:blipFill>
          <a:blip r:embed="rId3"/>
          <a:stretch>
            <a:fillRect/>
          </a:stretch>
        </p:blipFill>
        <p:spPr>
          <a:xfrm>
            <a:off x="5742432" y="3470376"/>
            <a:ext cx="4963977" cy="1045048"/>
          </a:xfrm>
          <a:prstGeom prst="rect">
            <a:avLst/>
          </a:prstGeom>
        </p:spPr>
      </p:pic>
    </p:spTree>
    <p:extLst>
      <p:ext uri="{BB962C8B-B14F-4D97-AF65-F5344CB8AC3E}">
        <p14:creationId xmlns:p14="http://schemas.microsoft.com/office/powerpoint/2010/main" val="1380648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DAEDB-98F9-7E00-C173-EBD7A7901DCA}"/>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426ABBA4-1D62-BBE3-0F64-73068A0F1B26}"/>
              </a:ext>
            </a:extLst>
          </p:cNvPr>
          <p:cNvSpPr>
            <a:spLocks noGrp="1"/>
          </p:cNvSpPr>
          <p:nvPr>
            <p:ph idx="1"/>
          </p:nvPr>
        </p:nvSpPr>
        <p:spPr/>
        <p:txBody>
          <a:bodyPr>
            <a:noAutofit/>
          </a:bodyPr>
          <a:lstStyle/>
          <a:p>
            <a:pPr algn="just">
              <a:lnSpc>
                <a:spcPct val="150000"/>
              </a:lnSpc>
            </a:pPr>
            <a:r>
              <a:rPr lang="en-GB" dirty="0">
                <a:effectLst/>
                <a:latin typeface="Times New Roman" panose="02020603050405020304" pitchFamily="18" charset="0"/>
                <a:ea typeface="Times New Roman" panose="02020603050405020304" pitchFamily="18" charset="0"/>
              </a:rPr>
              <a:t>For this project, I have studied the Supply Chain Management and the effect of e-commerce on the retail sector. Along with this, a basic cost optimization model has been developed. The objective function has been developed, which is the minimization of the total cost. This minimization is to be achieved using an iterative algorithm. </a:t>
            </a:r>
            <a:endParaRPr lang="en-IN" dirty="0">
              <a:effectLst/>
              <a:latin typeface="Times New Roman" panose="02020603050405020304" pitchFamily="18" charset="0"/>
              <a:ea typeface="Times New Roman" panose="02020603050405020304" pitchFamily="18" charset="0"/>
            </a:endParaRPr>
          </a:p>
          <a:p>
            <a:pPr algn="just">
              <a:lnSpc>
                <a:spcPct val="150000"/>
              </a:lnSpc>
            </a:pPr>
            <a:r>
              <a:rPr lang="en-GB" dirty="0">
                <a:effectLst/>
                <a:latin typeface="Times New Roman" panose="02020603050405020304" pitchFamily="18" charset="0"/>
                <a:ea typeface="Times New Roman" panose="02020603050405020304" pitchFamily="18" charset="0"/>
              </a:rPr>
              <a:t>I have used the very widely popular Differential Evolution for this. I have implemented the algorithm using the </a:t>
            </a:r>
            <a:r>
              <a:rPr lang="en-GB" dirty="0" err="1">
                <a:effectLst/>
                <a:latin typeface="Times New Roman" panose="02020603050405020304" pitchFamily="18" charset="0"/>
                <a:ea typeface="Times New Roman" panose="02020603050405020304" pitchFamily="18" charset="0"/>
              </a:rPr>
              <a:t>Rosenbrock</a:t>
            </a:r>
            <a:r>
              <a:rPr lang="en-GB" dirty="0">
                <a:effectLst/>
                <a:latin typeface="Times New Roman" panose="02020603050405020304" pitchFamily="18" charset="0"/>
                <a:ea typeface="Times New Roman" panose="02020603050405020304" pitchFamily="18" charset="0"/>
              </a:rPr>
              <a:t> Function first, before implementing it using the collected real world data. </a:t>
            </a:r>
            <a:endParaRPr lang="en-IN" dirty="0">
              <a:effectLst/>
              <a:latin typeface="Times New Roman" panose="02020603050405020304" pitchFamily="18" charset="0"/>
              <a:ea typeface="Times New Roman" panose="02020603050405020304" pitchFamily="18" charset="0"/>
            </a:endParaRPr>
          </a:p>
          <a:p>
            <a:pPr algn="just">
              <a:lnSpc>
                <a:spcPct val="150000"/>
              </a:lnSpc>
            </a:pPr>
            <a:r>
              <a:rPr lang="en-GB" dirty="0">
                <a:effectLst/>
                <a:latin typeface="Times New Roman" panose="02020603050405020304" pitchFamily="18" charset="0"/>
                <a:ea typeface="Times New Roman" panose="02020603050405020304" pitchFamily="18" charset="0"/>
              </a:rPr>
              <a:t>In conclusion, such a solution strategy is a very viable option for such optimization problems.</a:t>
            </a:r>
            <a:endParaRPr lang="en-IN"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17206630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63</TotalTime>
  <Words>1187</Words>
  <Application>Microsoft Office PowerPoint</Application>
  <PresentationFormat>Widescreen</PresentationFormat>
  <Paragraphs>69</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Cambria Math</vt:lpstr>
      <vt:lpstr>Century Gothic</vt:lpstr>
      <vt:lpstr>Times New Roman</vt:lpstr>
      <vt:lpstr>Wingdings 3</vt:lpstr>
      <vt:lpstr>Ion Boardroom</vt:lpstr>
      <vt:lpstr>Cost Optimization Solutions For E-Commerce Vendors</vt:lpstr>
      <vt:lpstr>Introduction </vt:lpstr>
      <vt:lpstr>Review Of Literature</vt:lpstr>
      <vt:lpstr>Review Of Literature</vt:lpstr>
      <vt:lpstr>Review Of Literature</vt:lpstr>
      <vt:lpstr>System Model</vt:lpstr>
      <vt:lpstr>System Model</vt:lpstr>
      <vt:lpstr>Network Model</vt:lpstr>
      <vt:lpstr>Differential Evolution</vt:lpstr>
      <vt:lpstr>Differential Evolution Working</vt:lpstr>
      <vt:lpstr>System Implementation</vt:lpstr>
      <vt:lpstr>System Implementation  using the  Rosenbrock Function</vt:lpstr>
      <vt:lpstr>System Implementation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 Optimization Solutions For E-Commerce Vendors</dc:title>
  <dc:creator>Sashwat Desai</dc:creator>
  <cp:lastModifiedBy>Sashwat Desai</cp:lastModifiedBy>
  <cp:revision>2</cp:revision>
  <dcterms:created xsi:type="dcterms:W3CDTF">2023-05-19T16:38:24Z</dcterms:created>
  <dcterms:modified xsi:type="dcterms:W3CDTF">2023-05-19T17:42:15Z</dcterms:modified>
</cp:coreProperties>
</file>